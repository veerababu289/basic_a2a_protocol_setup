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Distributed AI Agents: Discovery &amp; A2A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Local proof of concept • Google ADK + LangGraph +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Goal: demonstrate how independently running agents discover and call one another.</a:t>
            </a:r>
          </a:p>
          <a:p>
            <a:pPr>
              <a:spcAft>
                <a:spcPts val="1200"/>
              </a:spcAft>
              <a:defRPr sz="2200"/>
            </a:pPr>
            <a:r>
              <a:t>Coordinator: Google ADK (port 8000)</a:t>
            </a:r>
          </a:p>
          <a:p>
            <a:pPr>
              <a:spcAft>
                <a:spcPts val="1200"/>
              </a:spcAft>
              <a:defRPr sz="2200"/>
            </a:pPr>
            <a:r>
              <a:t>Specialists: Order Agent using LangGraph (port 8001); Payment Agent using plain Python (port 8002)</a:t>
            </a:r>
          </a:p>
          <a:p>
            <a:pPr>
              <a:spcAft>
                <a:spcPts val="1200"/>
              </a:spcAft>
              <a:defRPr sz="2200"/>
            </a:pPr>
            <a:r>
              <a:t>Transport: Agent2Agent (A2A) protocol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problem we are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Independent agents may run on different servers and use different frameworks.</a:t>
            </a:r>
          </a:p>
          <a:p>
            <a:pPr>
              <a:spcAft>
                <a:spcPts val="1200"/>
              </a:spcAft>
              <a:defRPr sz="2100"/>
            </a:pPr>
            <a:r>
              <a:t>An agent does not automatically know that other agents exist.</a:t>
            </a:r>
          </a:p>
          <a:p>
            <a:pPr>
              <a:spcAft>
                <a:spcPts val="1200"/>
              </a:spcAft>
              <a:defRPr sz="2100"/>
            </a:pPr>
            <a:r>
              <a:t>Hardcoding every agent URL does not scale as the number of agents grows.</a:t>
            </a:r>
          </a:p>
          <a:p>
            <a:pPr>
              <a:spcAft>
                <a:spcPts val="1200"/>
              </a:spcAft>
              <a:defRPr sz="2100"/>
            </a:pPr>
            <a:r>
              <a:t>We need discovery, a shared description of capabilities, and a communication contract.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Three distinct building blocks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EEF3F8"/>
          </a:solidFill>
          <a:ln>
            <a:solidFill>
              <a:srgbClr val="586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b="1" sz="1700"/>
            </a:pPr>
            <a:r>
              <a:t>1. Registry</a:t>
            </a:r>
          </a:p>
          <a:p>
            <a:pPr algn="ctr">
              <a:defRPr sz="1200"/>
            </a:pPr>
            <a:r>
              <a:t>Finds agent IDs, capabilities, and endpoints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828800"/>
            <a:ext cx="3383280" cy="2011680"/>
          </a:xfrm>
          <a:prstGeom prst="roundRect">
            <a:avLst/>
          </a:prstGeom>
          <a:solidFill>
            <a:srgbClr val="EEF3F8"/>
          </a:solidFill>
          <a:ln>
            <a:solidFill>
              <a:srgbClr val="586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b="1" sz="1700"/>
            </a:pPr>
            <a:r>
              <a:t>2. Agent Card</a:t>
            </a:r>
          </a:p>
          <a:p>
            <a:pPr algn="ctr">
              <a:defRPr sz="1200"/>
            </a:pPr>
            <a:r>
              <a:t>Describes an agent, its URL, and advertised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383280" cy="2011680"/>
          </a:xfrm>
          <a:prstGeom prst="roundRect">
            <a:avLst/>
          </a:prstGeom>
          <a:solidFill>
            <a:srgbClr val="EEF3F8"/>
          </a:solidFill>
          <a:ln>
            <a:solidFill>
              <a:srgbClr val="586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b="1" sz="1700"/>
            </a:pPr>
            <a:r>
              <a:t>3. A2A</a:t>
            </a:r>
          </a:p>
          <a:p>
            <a:pPr algn="ctr">
              <a:defRPr sz="1200"/>
            </a:pPr>
            <a:r>
              <a:t>Carries requests/tasks and responses between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Registry = where to look • Agent Card = what it advertises • A2A = how to communicate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POC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234440"/>
            <a:ext cx="3840480" cy="914400"/>
          </a:xfrm>
          <a:prstGeom prst="roundRect">
            <a:avLst/>
          </a:prstGeom>
          <a:solidFill>
            <a:srgbClr val="EEF3F8"/>
          </a:solidFill>
          <a:ln>
            <a:solidFill>
              <a:srgbClr val="586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b="1" sz="1700"/>
            </a:pPr>
            <a:r>
              <a:t>User / ADK Web</a:t>
            </a:r>
          </a:p>
          <a:p>
            <a:pPr algn="ctr">
              <a:defRPr sz="1200"/>
            </a:pPr>
            <a:r>
              <a:t>localhost:8000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2606040"/>
            <a:ext cx="3840480" cy="914400"/>
          </a:xfrm>
          <a:prstGeom prst="roundRect">
            <a:avLst/>
          </a:prstGeom>
          <a:solidFill>
            <a:srgbClr val="EEF3F8"/>
          </a:solidFill>
          <a:ln>
            <a:solidFill>
              <a:srgbClr val="586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b="1" sz="1700"/>
            </a:pPr>
            <a:r>
              <a:t>Google ADK Coordinator</a:t>
            </a:r>
          </a:p>
          <a:p>
            <a:pPr algn="ctr">
              <a:defRPr sz="1200"/>
            </a:pPr>
            <a:r>
              <a:t>Reads registry and calls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434840"/>
            <a:ext cx="320040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586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b="1" sz="1700"/>
            </a:pPr>
            <a:r>
              <a:t>Order Agent</a:t>
            </a:r>
          </a:p>
          <a:p>
            <a:pPr algn="ctr">
              <a:defRPr sz="1200"/>
            </a:pPr>
            <a:r>
              <a:t>LangGraph • localhost:8001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434840"/>
            <a:ext cx="320040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586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b="1" sz="1700"/>
            </a:pPr>
            <a:r>
              <a:t>registry.json</a:t>
            </a:r>
          </a:p>
          <a:p>
            <a:pPr algn="ctr">
              <a:defRPr sz="1200"/>
            </a:pPr>
            <a:r>
              <a:t>Capability → card URL / base URL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434840"/>
            <a:ext cx="320040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586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b="1" sz="1700"/>
            </a:pPr>
            <a:r>
              <a:t>Payment Agent</a:t>
            </a:r>
          </a:p>
          <a:p>
            <a:pPr algn="ctr">
              <a:defRPr sz="1200"/>
            </a:pPr>
            <a:r>
              <a:t>Plain Python • localhost:8002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978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Specialists are separate processes; coordinator interacts through the A2A boundary.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End-to-end request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1. User asks: “Check order ORD-1001 and tell me its payment status.”</a:t>
            </a:r>
          </a:p>
          <a:p>
            <a:pPr>
              <a:spcAft>
                <a:spcPts val="1200"/>
              </a:spcAft>
              <a:defRPr sz="1900"/>
            </a:pPr>
            <a:r>
              <a:t>2. Coordinator discovers the required capability in registry.json.</a:t>
            </a:r>
          </a:p>
          <a:p>
            <a:pPr>
              <a:spcAft>
                <a:spcPts val="1200"/>
              </a:spcAft>
              <a:defRPr sz="1900"/>
            </a:pPr>
            <a:r>
              <a:t>3. Coordinator fetches the selected agent’s Agent Card.</a:t>
            </a:r>
          </a:p>
          <a:p>
            <a:pPr>
              <a:spcAft>
                <a:spcPts val="1200"/>
              </a:spcAft>
              <a:defRPr sz="1900"/>
            </a:pPr>
            <a:r>
              <a:t>4. Coordinator sends an A2A message/send request.</a:t>
            </a:r>
          </a:p>
          <a:p>
            <a:pPr>
              <a:spcAft>
                <a:spcPts val="1200"/>
              </a:spcAft>
              <a:defRPr sz="1900"/>
            </a:pPr>
            <a:r>
              <a:t>5. Specialist returns its result; coordinator repeats for the second specialist.</a:t>
            </a:r>
          </a:p>
          <a:p>
            <a:pPr>
              <a:spcAft>
                <a:spcPts val="1200"/>
              </a:spcAft>
              <a:defRPr sz="1900"/>
            </a:pPr>
            <a:r>
              <a:t>6. Coordinator combines returned facts into one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the live demo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Agent Cards are available at each specialist’s well-known URL.</a:t>
            </a:r>
          </a:p>
          <a:p>
            <a:pPr>
              <a:spcAft>
                <a:spcPts val="1200"/>
              </a:spcAft>
              <a:defRPr sz="2100"/>
            </a:pPr>
            <a:r>
              <a:t>A registry is used for discovery at request time.</a:t>
            </a:r>
          </a:p>
          <a:p>
            <a:pPr>
              <a:spcAft>
                <a:spcPts val="1200"/>
              </a:spcAft>
              <a:defRPr sz="2100"/>
            </a:pPr>
            <a:r>
              <a:t>The Order Agent and Payment Agent use different internal implementations.</a:t>
            </a:r>
          </a:p>
          <a:p>
            <a:pPr>
              <a:spcAft>
                <a:spcPts val="1200"/>
              </a:spcAft>
              <a:defRPr sz="2100"/>
            </a:pPr>
            <a:r>
              <a:t>A direct smoke test validates the A2A path without requiring an LLM call.</a:t>
            </a:r>
          </a:p>
          <a:p>
            <a:pPr>
              <a:spcAft>
                <a:spcPts val="1200"/>
              </a:spcAft>
              <a:defRPr sz="2100"/>
            </a:pPr>
            <a:r>
              <a:t>The ADK UI demonstrates end-to-end orchestration.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Example result (mock demo data)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5120640" cy="2377440"/>
          </a:xfrm>
          <a:prstGeom prst="roundRect">
            <a:avLst/>
          </a:prstGeom>
          <a:solidFill>
            <a:srgbClr val="EEF3F8"/>
          </a:solidFill>
          <a:ln>
            <a:solidFill>
              <a:srgbClr val="586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b="1" sz="1700"/>
            </a:pPr>
            <a:r>
              <a:t>Order Agent</a:t>
            </a:r>
          </a:p>
          <a:p>
            <a:pPr algn="ctr">
              <a:defRPr sz="1200"/>
            </a:pPr>
            <a:r>
              <a:t>ORD-1001 • SHIPPED</a:t>
            </a:r>
            <a:br/>
            <a:r>
              <a:t>Estimated delivery: 2026-10-14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828800"/>
            <a:ext cx="5120640" cy="2377440"/>
          </a:xfrm>
          <a:prstGeom prst="roundRect">
            <a:avLst/>
          </a:prstGeom>
          <a:solidFill>
            <a:srgbClr val="EEF3F8"/>
          </a:solidFill>
          <a:ln>
            <a:solidFill>
              <a:srgbClr val="586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b="1" sz="1700"/>
            </a:pPr>
            <a:r>
              <a:t>Payment Agent</a:t>
            </a:r>
          </a:p>
          <a:p>
            <a:pPr algn="ctr">
              <a:defRPr sz="1200"/>
            </a:pPr>
            <a:r>
              <a:t>ORD-1001 • PAID</a:t>
            </a:r>
            <a:br/>
            <a:r>
              <a:t>Amount: 129.95 USD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00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coordinator merges the returned facts; it does not invent missing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Scope, limitations,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POC: local JSON registry, mock data, loopback HTTP, no service authentication.</a:t>
            </a:r>
          </a:p>
          <a:p>
            <a:pPr>
              <a:spcAft>
                <a:spcPts val="1200"/>
              </a:spcAft>
              <a:defRPr sz="1800"/>
            </a:pPr>
            <a:r>
              <a:t>Production: TLS, service identity, least-privilege authorization, trusted/signed cards.</a:t>
            </a:r>
          </a:p>
          <a:p>
            <a:pPr>
              <a:spcAft>
                <a:spcPts val="1200"/>
              </a:spcAft>
              <a:defRPr sz="1800"/>
            </a:pPr>
            <a:r>
              <a:t>Add health checks, durable registry, retries, idempotency, logs, and distributed tracing.</a:t>
            </a:r>
          </a:p>
          <a:p>
            <a:pPr>
              <a:spcAft>
                <a:spcPts val="1200"/>
              </a:spcAft>
              <a:defRPr sz="1800"/>
            </a:pPr>
            <a:r>
              <a:t>Align and test SDK versions; migrate the teaching implementation to the current A2A SDK 1.x API before production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The registry helps an agent find another agent.</a:t>
            </a:r>
          </a:p>
          <a:p>
            <a:pPr>
              <a:spcAft>
                <a:spcPts val="1200"/>
              </a:spcAft>
              <a:defRPr sz="2200"/>
            </a:pPr>
            <a:r>
              <a:t>The Agent Card describes what the agent advertises.</a:t>
            </a:r>
          </a:p>
          <a:p>
            <a:pPr>
              <a:spcAft>
                <a:spcPts val="1200"/>
              </a:spcAft>
              <a:defRPr sz="2200"/>
            </a:pPr>
            <a:r>
              <a:t>A2A defines the communication contract.</a:t>
            </a:r>
          </a:p>
          <a:p>
            <a:pPr>
              <a:spcAft>
                <a:spcPts val="1200"/>
              </a:spcAft>
              <a:defRPr sz="2200"/>
            </a:pPr>
            <a:r>
              <a:t>Different frameworks can interoperate when they implement the same protocol.</a:t>
            </a:r>
          </a:p>
          <a:p>
            <a:pPr>
              <a:spcAft>
                <a:spcPts val="1200"/>
              </a:spcAft>
              <a:defRPr sz="2200"/>
            </a:pPr>
            <a:r>
              <a:t>This POC makes discovery and remote calls visible and testable.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