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32520" y="1024128"/>
            <a:ext cx="758952" cy="758952"/>
          </a:xfrm>
          <a:prstGeom prst="roundRect">
            <a:avLst>
              <a:gd name="adj" fmla="val 8000"/>
            </a:avLst>
          </a:prstGeom>
          <a:solidFill>
            <a:srgbClr val="41D3E0"/>
          </a:solidFill>
          <a:ln>
            <a:solidFill>
              <a:srgbClr val="41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30968" y="1024128"/>
            <a:ext cx="758952" cy="758952"/>
          </a:xfrm>
          <a:prstGeom prst="roundRect">
            <a:avLst>
              <a:gd name="adj" fmla="val 8000"/>
            </a:avLst>
          </a:prstGeom>
          <a:solidFill>
            <a:srgbClr val="5D9BFF"/>
          </a:solidFill>
          <a:ln>
            <a:solidFill>
              <a:srgbClr val="5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32520" y="2377440"/>
            <a:ext cx="758952" cy="758952"/>
          </a:xfrm>
          <a:prstGeom prst="roundRect">
            <a:avLst>
              <a:gd name="adj" fmla="val 8000"/>
            </a:avLst>
          </a:prstGeom>
          <a:solidFill>
            <a:srgbClr val="5BDAA3"/>
          </a:solidFill>
          <a:ln>
            <a:solidFill>
              <a:srgbClr val="5BD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30968" y="2377440"/>
            <a:ext cx="758952" cy="758952"/>
          </a:xfrm>
          <a:prstGeom prst="roundRect">
            <a:avLst>
              <a:gd name="adj" fmla="val 8000"/>
            </a:avLst>
          </a:prstGeom>
          <a:solidFill>
            <a:srgbClr val="FFC25C"/>
          </a:solidFill>
          <a:ln>
            <a:solidFill>
              <a:srgbClr val="FFC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144000" y="1783080"/>
            <a:ext cx="0" cy="548640"/>
          </a:xfrm>
          <a:prstGeom prst="line">
            <a:avLst/>
          </a:prstGeom>
          <a:ln w="25400">
            <a:solidFill>
              <a:srgbClr val="F4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491472" y="1828800"/>
            <a:ext cx="612648" cy="731520"/>
          </a:xfrm>
          <a:prstGeom prst="line">
            <a:avLst/>
          </a:prstGeom>
          <a:ln w="25400">
            <a:solidFill>
              <a:srgbClr val="F4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491472" y="2761488"/>
            <a:ext cx="548640" cy="0"/>
          </a:xfrm>
          <a:prstGeom prst="line">
            <a:avLst/>
          </a:prstGeom>
          <a:ln w="25400">
            <a:solidFill>
              <a:srgbClr val="F4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8096" y="694944"/>
            <a:ext cx="70408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41D3E0"/>
                </a:solidFill>
                <a:latin typeface="Aptos"/>
              </a:rPr>
              <a:t>A PRACTICAL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389888"/>
            <a:ext cx="7040880" cy="1417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800" b="1" i="0">
                <a:solidFill>
                  <a:srgbClr val="F4F8FC"/>
                </a:solidFill>
                <a:latin typeface="Aptos"/>
              </a:rPr>
              <a:t>A2A Protocol</a:t>
            </a:r>
          </a:p>
          <a:p>
            <a:pPr algn="l">
              <a:spcAft>
                <a:spcPts val="500"/>
              </a:spcAft>
            </a:pPr>
            <a:r>
              <a:rPr sz="3800" b="1" i="0">
                <a:solidFill>
                  <a:srgbClr val="F4F8FC"/>
                </a:solidFill>
                <a:latin typeface="Aptos"/>
              </a:rPr>
              <a:t>&amp; Your POC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044952"/>
            <a:ext cx="6583680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ADBED0"/>
                </a:solidFill>
                <a:latin typeface="Aptos"/>
              </a:rPr>
              <a:t>Messages • Tasks • Agent Cards • Well-known URLs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ADBED0"/>
                </a:solidFill>
                <a:latin typeface="Aptos"/>
              </a:rPr>
              <a:t>How A2A and MCP work together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4681728"/>
            <a:ext cx="6720840" cy="96012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4837176"/>
            <a:ext cx="6291072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5BDAA3"/>
                </a:solidFill>
                <a:latin typeface="Aptos"/>
              </a:rPr>
              <a:t>Demo topology: 1 coordinator + 2 server processes + 4 mounted agents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RUN OF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Today’s route: understand it, then demo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A practical talk track for explaining the protocol and testing the running application.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48840"/>
            <a:ext cx="2633472" cy="214884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50008"/>
            <a:ext cx="621792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41D3E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07792"/>
            <a:ext cx="224942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F4F8FC"/>
                </a:solidFill>
                <a:latin typeface="Aptos"/>
              </a:rPr>
              <a:t>Mental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383280"/>
            <a:ext cx="2249424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DBED0"/>
                </a:solidFill>
                <a:latin typeface="Aptos"/>
              </a:rPr>
              <a:t>A2A vs MCP; message, task, IDs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2148840"/>
            <a:ext cx="2633472" cy="214884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2350008"/>
            <a:ext cx="621792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41D3E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2907792"/>
            <a:ext cx="224942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F4F8FC"/>
                </a:solidFill>
                <a:latin typeface="Aptos"/>
              </a:rPr>
              <a:t>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3383280"/>
            <a:ext cx="2249424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DBED0"/>
                </a:solidFill>
                <a:latin typeface="Aptos"/>
              </a:rPr>
              <a:t>Registry, Agent Card, well-known URL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48840"/>
            <a:ext cx="2633472" cy="214884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350008"/>
            <a:ext cx="621792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41D3E0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07792"/>
            <a:ext cx="224942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F4F8FC"/>
                </a:solidFill>
                <a:latin typeface="Aptos"/>
              </a:rPr>
              <a:t>Follow the 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383280"/>
            <a:ext cx="2249424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DBED0"/>
                </a:solidFill>
                <a:latin typeface="Aptos"/>
              </a:rPr>
              <a:t>Coordinator → mounted agent → 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0304" y="2148840"/>
            <a:ext cx="2633472" cy="214884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73184" y="2350008"/>
            <a:ext cx="621792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41D3E0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2907792"/>
            <a:ext cx="224942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F4F8FC"/>
                </a:solidFill>
                <a:latin typeface="Aptos"/>
              </a:rPr>
              <a:t>Try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3383280"/>
            <a:ext cx="2249424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DBED0"/>
                </a:solidFill>
                <a:latin typeface="Aptos"/>
              </a:rPr>
              <a:t>Card checks, smoke test, user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937760"/>
            <a:ext cx="1051560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FC25C"/>
                </a:solidFill>
                <a:latin typeface="Aptos"/>
              </a:rPr>
              <a:t>Suggested live-demo time: 8–12 minutes • Start all three processes before presenting.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First separate the three A2A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They solve different parts of connecting independent agents.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3456432" cy="233172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73152" cy="2331720"/>
          </a:xfrm>
          <a:prstGeom prst="rect">
            <a:avLst/>
          </a:prstGeom>
          <a:solidFill>
            <a:srgbClr val="5D9BFF"/>
          </a:solidFill>
          <a:ln>
            <a:solidFill>
              <a:srgbClr val="5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65960"/>
            <a:ext cx="307238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5D9BFF"/>
                </a:solidFill>
                <a:latin typeface="Aptos"/>
              </a:rPr>
              <a:t>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32304"/>
            <a:ext cx="3072384" cy="16184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Find an agent by ID or capability.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In this POC: registry.json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Example: get_payment_amount → payment-amount-agent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56432" cy="233172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73152" cy="2331720"/>
          </a:xfrm>
          <a:prstGeom prst="rect">
            <a:avLst/>
          </a:prstGeom>
          <a:solidFill>
            <a:srgbClr val="5BDAA3"/>
          </a:solidFill>
          <a:ln>
            <a:solidFill>
              <a:srgbClr val="5BD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07238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5BDAA3"/>
                </a:solidFill>
                <a:latin typeface="Aptos"/>
              </a:rPr>
              <a:t>AGENT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32304"/>
            <a:ext cx="3072384" cy="16184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Describes the remote agent: name, skills, endpoint, and capabilities.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It is descriptive metadata—not the discovery registry.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828800"/>
            <a:ext cx="3456432" cy="233172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828800"/>
            <a:ext cx="73152" cy="2331720"/>
          </a:xfrm>
          <a:prstGeom prst="rect">
            <a:avLst/>
          </a:prstGeom>
          <a:solidFill>
            <a:srgbClr val="41D3E0"/>
          </a:solidFill>
          <a:ln>
            <a:solidFill>
              <a:srgbClr val="41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1965960"/>
            <a:ext cx="307238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41D3E0"/>
                </a:solidFill>
                <a:latin typeface="Aptos"/>
              </a:rPr>
              <a:t>A2A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432304"/>
            <a:ext cx="3072384" cy="16184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Defines how an A2A client sends work and receives messages, task status, and outputs.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This POC uses JSON-RPC message/send.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105156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 i="0">
                <a:solidFill>
                  <a:srgbClr val="F4F8FC"/>
                </a:solidFill>
                <a:latin typeface="Aptos"/>
              </a:rPr>
              <a:t>Registry = where to look     •     Card = what it advertises     •     A2A = how to communicate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MCP and A2A are complementary—not competing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Think “agent ↔ agent” for delegation and “agent ↔ capability” for tools/context.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1"/>
            <a:ext cx="4709160" cy="333756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41148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41D3E0"/>
                </a:solidFill>
                <a:latin typeface="Aptos"/>
              </a:rPr>
              <a:t>A2A • Agent to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79192"/>
            <a:ext cx="4114800" cy="2057400"/>
          </a:xfrm>
          <a:prstGeom prst="rect">
            <a:avLst/>
          </a:prstGeom>
          <a:noFill/>
        </p:spPr>
        <p:txBody>
          <a:bodyPr wrap="square" lIns="109728" rIns="109728" tIns="91440" bIns="7315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rPr sz="1500" b="1">
                <a:solidFill>
                  <a:srgbClr val="41D3E0"/>
                </a:solidFill>
                <a:latin typeface="Aptos"/>
              </a:rPr>
              <a:t>•  </a:t>
            </a:r>
            <a:r>
              <a:rPr sz="1500">
                <a:solidFill>
                  <a:srgbClr val="F4F8FC"/>
                </a:solidFill>
                <a:latin typeface="Aptos"/>
              </a:rPr>
              <a:t>A coordinator delegates a task to a remote specialist.</a:t>
            </a:r>
          </a:p>
          <a:p>
            <a:pPr>
              <a:spcAft>
                <a:spcPts val="9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rPr sz="1500" b="1">
                <a:solidFill>
                  <a:srgbClr val="41D3E0"/>
                </a:solidFill>
                <a:latin typeface="Aptos"/>
              </a:rPr>
              <a:t>•  </a:t>
            </a:r>
            <a:r>
              <a:rPr sz="1500">
                <a:solidFill>
                  <a:srgbClr val="F4F8FC"/>
                </a:solidFill>
                <a:latin typeface="Aptos"/>
              </a:rPr>
              <a:t>The specialist stays autonomous; internals remain private.</a:t>
            </a:r>
          </a:p>
          <a:p>
            <a:pPr>
              <a:spcAft>
                <a:spcPts val="9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rPr sz="1500" b="1">
                <a:solidFill>
                  <a:srgbClr val="41D3E0"/>
                </a:solidFill>
                <a:latin typeface="Aptos"/>
              </a:rPr>
              <a:t>•  </a:t>
            </a:r>
            <a:r>
              <a:rPr sz="1500">
                <a:solidFill>
                  <a:srgbClr val="F4F8FC"/>
                </a:solidFill>
                <a:latin typeface="Aptos"/>
              </a:rPr>
              <a:t>Agent Card advertises skills; A2A carries the interaction.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4848" y="1856231"/>
            <a:ext cx="4709160" cy="333756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2075688"/>
            <a:ext cx="41148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5BDAA3"/>
                </a:solidFill>
                <a:latin typeface="Aptos"/>
              </a:rPr>
              <a:t>MCP • Host to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679192"/>
            <a:ext cx="4114800" cy="2057400"/>
          </a:xfrm>
          <a:prstGeom prst="rect">
            <a:avLst/>
          </a:prstGeom>
          <a:noFill/>
        </p:spPr>
        <p:txBody>
          <a:bodyPr wrap="square" lIns="109728" rIns="109728" tIns="91440" bIns="7315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rPr sz="1500" b="1">
                <a:solidFill>
                  <a:srgbClr val="41D3E0"/>
                </a:solidFill>
                <a:latin typeface="Aptos"/>
              </a:rPr>
              <a:t>•  </a:t>
            </a:r>
            <a:r>
              <a:rPr sz="1500">
                <a:solidFill>
                  <a:srgbClr val="F4F8FC"/>
                </a:solidFill>
                <a:latin typeface="Aptos"/>
              </a:rPr>
              <a:t>An AI application connects to MCP servers through MCP clients.</a:t>
            </a:r>
          </a:p>
          <a:p>
            <a:pPr>
              <a:spcAft>
                <a:spcPts val="9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rPr sz="1500" b="1">
                <a:solidFill>
                  <a:srgbClr val="41D3E0"/>
                </a:solidFill>
                <a:latin typeface="Aptos"/>
              </a:rPr>
              <a:t>•  </a:t>
            </a:r>
            <a:r>
              <a:rPr sz="1500">
                <a:solidFill>
                  <a:srgbClr val="F4F8FC"/>
                </a:solidFill>
                <a:latin typeface="Aptos"/>
              </a:rPr>
              <a:t>Servers can expose tools, resources, and prompts.</a:t>
            </a:r>
          </a:p>
          <a:p>
            <a:pPr>
              <a:spcAft>
                <a:spcPts val="9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rPr sz="1500" b="1">
                <a:solidFill>
                  <a:srgbClr val="41D3E0"/>
                </a:solidFill>
                <a:latin typeface="Aptos"/>
              </a:rPr>
              <a:t>•  </a:t>
            </a:r>
            <a:r>
              <a:rPr sz="1500">
                <a:solidFill>
                  <a:srgbClr val="F4F8FC"/>
                </a:solidFill>
                <a:latin typeface="Aptos"/>
              </a:rPr>
              <a:t>Useful for an agent to access data or invoke a bounded capability.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916936"/>
            <a:ext cx="1325880" cy="69494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 i="0">
                <a:solidFill>
                  <a:srgbClr val="FFC25C"/>
                </a:solidFill>
                <a:latin typeface="Aptos"/>
              </a:rPr>
              <a:t>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32120"/>
            <a:ext cx="103327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F4F8FC"/>
                </a:solidFill>
                <a:latin typeface="Aptos"/>
              </a:rPr>
              <a:t>Combined pattern: Coordinator —A2A→ specialist agent —MCP→ its tools /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961888"/>
            <a:ext cx="106070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FC25C"/>
                </a:solidFill>
                <a:latin typeface="Aptos"/>
              </a:rPr>
              <a:t>This POC currently uses A2A plus ADK function tools; it does not include an MCP server.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A2A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Message is an exchange; Task is trackable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A2A can return a lightweight Message or create a Task, depending on the interaction.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74920" cy="2907792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73152" cy="2907792"/>
          </a:xfrm>
          <a:prstGeom prst="rect">
            <a:avLst/>
          </a:prstGeom>
          <a:solidFill>
            <a:srgbClr val="41D3E0"/>
          </a:solidFill>
          <a:ln>
            <a:solidFill>
              <a:srgbClr val="41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11679"/>
            <a:ext cx="469087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41D3E0"/>
                </a:solidFill>
                <a:latin typeface="Aptos"/>
              </a:rPr>
              <a:t>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78024"/>
            <a:ext cx="4690872" cy="2194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F4F8FC"/>
                </a:solidFill>
                <a:latin typeface="Aptos"/>
              </a:rPr>
              <a:t>An envelope carrying content between agents.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F4F8FC"/>
                </a:solidFill>
                <a:latin typeface="Aptos"/>
              </a:rPr>
              <a:t>Contains role and parts (for example text, structured data, or file references).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F4F8FC"/>
                </a:solidFill>
                <a:latin typeface="Aptos"/>
              </a:rPr>
              <a:t>Use for an immediate exchange or as input to a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74519"/>
            <a:ext cx="5074920" cy="2907792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874519"/>
            <a:ext cx="73152" cy="2907792"/>
          </a:xfrm>
          <a:prstGeom prst="rect">
            <a:avLst/>
          </a:prstGeom>
          <a:solidFill>
            <a:srgbClr val="FFC25C"/>
          </a:solidFill>
          <a:ln>
            <a:solidFill>
              <a:srgbClr val="FFC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2011679"/>
            <a:ext cx="469087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FFC25C"/>
                </a:solidFill>
                <a:latin typeface="Aptos"/>
              </a:rPr>
              <a:t>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478024"/>
            <a:ext cx="4690872" cy="2194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F4F8FC"/>
                </a:solidFill>
                <a:latin typeface="Aptos"/>
              </a:rPr>
              <a:t>A unit of work with identity and status.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F4F8FC"/>
                </a:solidFill>
                <a:latin typeface="Aptos"/>
              </a:rPr>
              <a:t>Useful when work takes time, needs progress tracking, requires more input, or produces artifacts.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F4F8FC"/>
                </a:solidFill>
                <a:latin typeface="Aptos"/>
              </a:rPr>
              <a:t>A task can be completed, failed, canceled, or otherwise reach a terminal state.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30368"/>
            <a:ext cx="10332720" cy="6035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 i="0">
                <a:solidFill>
                  <a:srgbClr val="F4F8FC"/>
                </a:solidFill>
                <a:latin typeface="Aptos"/>
              </a:rPr>
              <a:t>Useful rule: a message carries communication; a task tracks execution over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24728"/>
            <a:ext cx="103327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ADBED0"/>
                </a:solidFill>
                <a:latin typeface="Aptos"/>
              </a:rPr>
              <a:t>Not every message must become a long-running task; behavior depends on the agent and operation.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A2A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Three IDs answer three different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Keep them distinct when inspecting requests, responses, logs, and follow-ups.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10607040" cy="86868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48255"/>
            <a:ext cx="19933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41D3E0"/>
                </a:solidFill>
                <a:latin typeface="Aptos"/>
              </a:rPr>
              <a:t>messageId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002536"/>
            <a:ext cx="3054096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4F8FC"/>
                </a:solidFill>
                <a:latin typeface="Aptos"/>
              </a:rPr>
              <a:t>Which message is this?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4" y="2002536"/>
            <a:ext cx="4818888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DBED0"/>
                </a:solidFill>
                <a:latin typeface="Aptos"/>
              </a:rPr>
              <a:t>Identifies one message/envelope.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90087"/>
            <a:ext cx="10607040" cy="86868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63823"/>
            <a:ext cx="19933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FFC25C"/>
                </a:solidFill>
                <a:latin typeface="Aptos"/>
              </a:rPr>
              <a:t>taskId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118103"/>
            <a:ext cx="3054096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4F8FC"/>
                </a:solidFill>
                <a:latin typeface="Aptos"/>
              </a:rPr>
              <a:t>Which unit of work is this?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3118103"/>
            <a:ext cx="4818888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DBED0"/>
                </a:solidFill>
                <a:latin typeface="Aptos"/>
              </a:rPr>
              <a:t>Identifies a task so its status/result can be tracked.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105656"/>
            <a:ext cx="10607040" cy="86868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79392"/>
            <a:ext cx="1993392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5BDAA3"/>
                </a:solidFill>
                <a:latin typeface="Aptos"/>
              </a:rPr>
              <a:t>contextId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233672"/>
            <a:ext cx="3054096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4F8FC"/>
                </a:solidFill>
                <a:latin typeface="Aptos"/>
              </a:rPr>
              <a:t>Which conversation/goal does this belong to?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4233672"/>
            <a:ext cx="4818888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DBED0"/>
                </a:solidFill>
                <a:latin typeface="Aptos"/>
              </a:rPr>
              <a:t>Groups related messages and tasks across follow-ups.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5468112"/>
            <a:ext cx="1024128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FFC25C"/>
                </a:solidFill>
                <a:latin typeface="Aptos"/>
              </a:rPr>
              <a:t>A context can group multiple tasks. A task is not the same thing as a conversation.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A2A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Task lifecycle: status tells you where work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The exact returned shape depends on the operation and protocol version.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212848"/>
            <a:ext cx="1993392" cy="1078992"/>
          </a:xfrm>
          <a:prstGeom prst="roundRect">
            <a:avLst>
              <a:gd name="adj" fmla="val 8000"/>
            </a:avLst>
          </a:prstGeom>
          <a:solidFill>
            <a:srgbClr val="1E334E"/>
          </a:solidFill>
          <a:ln>
            <a:solidFill>
              <a:srgbClr val="5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3" y="2523744"/>
            <a:ext cx="182880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5D9BFF"/>
                </a:solidFill>
                <a:latin typeface="Aptos"/>
              </a:rPr>
              <a:t>submitted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52344" y="2761488"/>
            <a:ext cx="265176" cy="0"/>
          </a:xfrm>
          <a:prstGeom prst="line">
            <a:avLst/>
          </a:prstGeom>
          <a:ln w="25400">
            <a:solidFill>
              <a:srgbClr val="AD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35808" y="2212848"/>
            <a:ext cx="1993392" cy="1078992"/>
          </a:xfrm>
          <a:prstGeom prst="roundRect">
            <a:avLst>
              <a:gd name="adj" fmla="val 8000"/>
            </a:avLst>
          </a:prstGeom>
          <a:solidFill>
            <a:srgbClr val="1E334E"/>
          </a:solidFill>
          <a:ln>
            <a:solidFill>
              <a:srgbClr val="41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8103" y="2523744"/>
            <a:ext cx="182880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41D3E0"/>
                </a:solidFill>
                <a:latin typeface="Aptos"/>
              </a:rPr>
              <a:t>working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38344" y="2761488"/>
            <a:ext cx="265176" cy="0"/>
          </a:xfrm>
          <a:prstGeom prst="line">
            <a:avLst/>
          </a:prstGeom>
          <a:ln w="25400">
            <a:solidFill>
              <a:srgbClr val="AD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21808" y="2212848"/>
            <a:ext cx="1993392" cy="1078992"/>
          </a:xfrm>
          <a:prstGeom prst="roundRect">
            <a:avLst>
              <a:gd name="adj" fmla="val 8000"/>
            </a:avLst>
          </a:prstGeom>
          <a:solidFill>
            <a:srgbClr val="1E334E"/>
          </a:solidFill>
          <a:ln>
            <a:solidFill>
              <a:srgbClr val="FFC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4104" y="2523744"/>
            <a:ext cx="182880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FC25C"/>
                </a:solidFill>
                <a:latin typeface="Aptos"/>
              </a:rPr>
              <a:t>input-required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24344" y="2761488"/>
            <a:ext cx="265176" cy="0"/>
          </a:xfrm>
          <a:prstGeom prst="line">
            <a:avLst/>
          </a:prstGeom>
          <a:ln w="25400">
            <a:solidFill>
              <a:srgbClr val="AD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07808" y="2212848"/>
            <a:ext cx="1993392" cy="1078992"/>
          </a:xfrm>
          <a:prstGeom prst="roundRect">
            <a:avLst>
              <a:gd name="adj" fmla="val 8000"/>
            </a:avLst>
          </a:prstGeom>
          <a:solidFill>
            <a:srgbClr val="1E334E"/>
          </a:solidFill>
          <a:ln>
            <a:solidFill>
              <a:srgbClr val="5BD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0104" y="2523744"/>
            <a:ext cx="182880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5BDAA3"/>
                </a:solidFill>
                <a:latin typeface="Aptos"/>
              </a:rPr>
              <a:t>completed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10344" y="2761488"/>
            <a:ext cx="265176" cy="0"/>
          </a:xfrm>
          <a:prstGeom prst="line">
            <a:avLst/>
          </a:prstGeom>
          <a:ln w="25400">
            <a:solidFill>
              <a:srgbClr val="AD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93808" y="2212848"/>
            <a:ext cx="1993392" cy="1078992"/>
          </a:xfrm>
          <a:prstGeom prst="roundRect">
            <a:avLst>
              <a:gd name="adj" fmla="val 8000"/>
            </a:avLst>
          </a:prstGeom>
          <a:solidFill>
            <a:srgbClr val="1E334E"/>
          </a:solidFill>
          <a:ln>
            <a:solidFill>
              <a:srgbClr val="FF8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76104" y="2523744"/>
            <a:ext cx="182880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F8199"/>
                </a:solidFill>
                <a:latin typeface="Aptos"/>
              </a:rPr>
              <a:t>failed / canceled / rejected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794760"/>
            <a:ext cx="1033272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F4F8FC"/>
                </a:solidFill>
                <a:latin typeface="Aptos"/>
              </a:rPr>
              <a:t>Non-terminal examples: submitted • working • input-required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526280"/>
            <a:ext cx="1033272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F4F8FC"/>
                </a:solidFill>
                <a:latin typeface="Aptos"/>
              </a:rPr>
              <a:t>Terminal examples: completed • failed • canceled • rejected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5376672"/>
            <a:ext cx="1014984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ADBED0"/>
                </a:solidFill>
                <a:latin typeface="Aptos"/>
              </a:rPr>
              <a:t>For a follow-up: reuse contextId to stay in the related conversation; use a new task for new/refined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A2A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What these concepts look like in this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The current demo proves discovery and request/response—not long-running task management.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47088"/>
            <a:ext cx="5257800" cy="329184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847088"/>
            <a:ext cx="73152" cy="3291840"/>
          </a:xfrm>
          <a:prstGeom prst="rect">
            <a:avLst/>
          </a:prstGeom>
          <a:solidFill>
            <a:srgbClr val="41D3E0"/>
          </a:solidFill>
          <a:ln>
            <a:solidFill>
              <a:srgbClr val="41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87375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41D3E0"/>
                </a:solidFill>
                <a:latin typeface="Aptos"/>
              </a:rPr>
              <a:t>WHAT THE COORDINATOR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50592"/>
            <a:ext cx="4873752" cy="2578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• Creates a fresh JSON-RPC id and messageId for each call.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• Sends one text Part with message/send using httpx.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• Fetches the Agent Card first.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• Passes the returned result to ADK for a user-facing summary.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847088"/>
            <a:ext cx="5257800" cy="329184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847088"/>
            <a:ext cx="73152" cy="3291840"/>
          </a:xfrm>
          <a:prstGeom prst="rect">
            <a:avLst/>
          </a:prstGeom>
          <a:solidFill>
            <a:srgbClr val="FFC25C"/>
          </a:solidFill>
          <a:ln>
            <a:solidFill>
              <a:srgbClr val="FFC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84248"/>
            <a:ext cx="487375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FFC25C"/>
                </a:solidFill>
                <a:latin typeface="Aptos"/>
              </a:rPr>
              <a:t>WHAT IT DOES NOT DEMONSTRATE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50592"/>
            <a:ext cx="4873752" cy="2578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• It does not explicitly send or retain contextId/taskId.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• It does not poll task status or use streaming/push updates.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• Executor reads text and returns text; task handling is delegated to the A2A SDK handler.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• No persistent business state: demo data is in memory.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04688"/>
            <a:ext cx="103784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FC25C"/>
                </a:solidFill>
                <a:latin typeface="Aptos"/>
              </a:rPr>
              <a:t>Version note: requirements pin a2a-sdk 0.3.x; official latest docs describe A2A 1.0.0. Check version-specific wire details.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YOUR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One coordinator, two server processes, four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A process can host multiple A2A applications at different URL paths.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2240280" cy="242316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13432"/>
            <a:ext cx="1810512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 i="0">
                <a:solidFill>
                  <a:srgbClr val="F4F8FC"/>
                </a:solidFill>
                <a:latin typeface="Aptos"/>
              </a:rPr>
              <a:t>Coordinator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98648"/>
            <a:ext cx="1810512" cy="42062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41D3E0"/>
                </a:solidFill>
                <a:latin typeface="Aptos"/>
              </a:rPr>
              <a:t>ADK • :8000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429000"/>
            <a:ext cx="1810512" cy="6949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ADBED0"/>
                </a:solidFill>
                <a:latin typeface="Aptos"/>
              </a:rPr>
              <a:t>registry.json</a:t>
            </a:r>
          </a:p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ADBED0"/>
                </a:solidFill>
                <a:latin typeface="Aptos"/>
              </a:rPr>
              <a:t>+ httpx client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30752" y="1810512"/>
            <a:ext cx="3694176" cy="2926080"/>
          </a:xfrm>
          <a:prstGeom prst="roundRect">
            <a:avLst>
              <a:gd name="adj" fmla="val 8000"/>
            </a:avLst>
          </a:prstGeom>
          <a:solidFill>
            <a:srgbClr val="1E334E"/>
          </a:solidFill>
          <a:ln>
            <a:solidFill>
              <a:srgbClr val="1E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011680"/>
            <a:ext cx="3200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5D9BFF"/>
                </a:solidFill>
                <a:latin typeface="Aptos"/>
              </a:rPr>
              <a:t>ORDER SERVER • :8001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5072" y="2633472"/>
            <a:ext cx="1481328" cy="1435608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05072" y="2633472"/>
            <a:ext cx="73152" cy="1435608"/>
          </a:xfrm>
          <a:prstGeom prst="rect">
            <a:avLst/>
          </a:prstGeom>
          <a:solidFill>
            <a:srgbClr val="5D9BFF"/>
          </a:solidFill>
          <a:ln>
            <a:solidFill>
              <a:srgbClr val="5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2770632"/>
            <a:ext cx="10972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5D9BFF"/>
                </a:solidFill>
                <a:latin typeface="Aptos"/>
              </a:rPr>
              <a:t>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236976"/>
            <a:ext cx="1097280" cy="72237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F4F8FC"/>
                </a:solidFill>
                <a:latin typeface="Aptos"/>
              </a:rPr>
              <a:t>/status/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F4F8FC"/>
                </a:solidFill>
                <a:latin typeface="Aptos"/>
              </a:rPr>
              <a:t>LangGraph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2633472"/>
            <a:ext cx="1481328" cy="1435608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0" y="2633472"/>
            <a:ext cx="73152" cy="1435608"/>
          </a:xfrm>
          <a:prstGeom prst="rect">
            <a:avLst/>
          </a:prstGeom>
          <a:solidFill>
            <a:srgbClr val="41D3E0"/>
          </a:solidFill>
          <a:ln>
            <a:solidFill>
              <a:srgbClr val="41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0448" y="2770632"/>
            <a:ext cx="10972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41D3E0"/>
                </a:solidFill>
                <a:latin typeface="Aptos"/>
              </a:rPr>
              <a:t>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3236976"/>
            <a:ext cx="1097280" cy="72237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F4F8FC"/>
                </a:solidFill>
                <a:latin typeface="Aptos"/>
              </a:rPr>
              <a:t>/delivery/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F4F8FC"/>
                </a:solidFill>
                <a:latin typeface="Aptos"/>
              </a:rPr>
              <a:t>Python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82712" y="1810512"/>
            <a:ext cx="3657600" cy="2926080"/>
          </a:xfrm>
          <a:prstGeom prst="roundRect">
            <a:avLst>
              <a:gd name="adj" fmla="val 8000"/>
            </a:avLst>
          </a:prstGeom>
          <a:solidFill>
            <a:srgbClr val="1E334E"/>
          </a:solidFill>
          <a:ln>
            <a:solidFill>
              <a:srgbClr val="1E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011680"/>
            <a:ext cx="31546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5BDAA3"/>
                </a:solidFill>
                <a:latin typeface="Aptos"/>
              </a:rPr>
              <a:t>PAYMENT SERVER • :8002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7888" y="2633472"/>
            <a:ext cx="1481328" cy="1435608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47888" y="2633472"/>
            <a:ext cx="73152" cy="1435608"/>
          </a:xfrm>
          <a:prstGeom prst="rect">
            <a:avLst/>
          </a:prstGeom>
          <a:solidFill>
            <a:srgbClr val="5BDAA3"/>
          </a:solidFill>
          <a:ln>
            <a:solidFill>
              <a:srgbClr val="5BD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6" y="2770632"/>
            <a:ext cx="10972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5BDAA3"/>
                </a:solidFill>
                <a:latin typeface="Aptos"/>
              </a:rPr>
              <a:t>Payment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9056" y="3236976"/>
            <a:ext cx="1097280" cy="72237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F4F8FC"/>
                </a:solidFill>
                <a:latin typeface="Aptos"/>
              </a:rPr>
              <a:t>/status/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F4F8FC"/>
                </a:solidFill>
                <a:latin typeface="Aptos"/>
              </a:rPr>
              <a:t>Python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02952" y="2633472"/>
            <a:ext cx="1481328" cy="1435608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02952" y="2633472"/>
            <a:ext cx="73152" cy="1435608"/>
          </a:xfrm>
          <a:prstGeom prst="rect">
            <a:avLst/>
          </a:prstGeom>
          <a:solidFill>
            <a:srgbClr val="FFC25C"/>
          </a:solidFill>
          <a:ln>
            <a:solidFill>
              <a:srgbClr val="FFC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2770632"/>
            <a:ext cx="10972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FFC25C"/>
                </a:solidFill>
                <a:latin typeface="Aptos"/>
              </a:rPr>
              <a:t>Amount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20" y="3236976"/>
            <a:ext cx="1097280" cy="72237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F4F8FC"/>
                </a:solidFill>
                <a:latin typeface="Aptos"/>
              </a:rPr>
              <a:t>/amount/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F4F8FC"/>
                </a:solidFill>
                <a:latin typeface="Aptos"/>
              </a:rPr>
              <a:t>Python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926080" y="2743200"/>
            <a:ext cx="749807" cy="0"/>
          </a:xfrm>
          <a:prstGeom prst="line">
            <a:avLst/>
          </a:prstGeom>
          <a:ln w="25400">
            <a:solidFill>
              <a:srgbClr val="41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926080" y="3794760"/>
            <a:ext cx="5001768" cy="0"/>
          </a:xfrm>
          <a:prstGeom prst="line">
            <a:avLst/>
          </a:prstGeom>
          <a:ln w="25400">
            <a:solidFill>
              <a:srgbClr val="41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5257800"/>
            <a:ext cx="1042416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4F8FC"/>
                </a:solidFill>
                <a:latin typeface="Aptos"/>
              </a:rPr>
              <a:t>Separate agent identity and card per mount; shared server process and port per specialist service.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Well-known URL: standard card path, mounted per agent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A2A defines a standard well-known Agent Card endpoint; this POC adds a mount prefix.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754880" cy="1033271"/>
          </a:xfrm>
          <a:prstGeom prst="roundRect">
            <a:avLst>
              <a:gd name="adj" fmla="val 8000"/>
            </a:avLst>
          </a:prstGeom>
          <a:solidFill>
            <a:srgbClr val="081120"/>
          </a:solidFill>
          <a:ln>
            <a:solidFill>
              <a:srgbClr val="2D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20240"/>
            <a:ext cx="4498848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C2E3EB"/>
                </a:solidFill>
                <a:latin typeface="Cascadia Code"/>
              </a:rPr>
              <a:t>Standard pattern: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C2E3EB"/>
                </a:solidFill>
                <a:latin typeface="Cascadia Code"/>
              </a:rPr>
              <a:t>https://&lt;host&gt;/.well-known/agent-card.json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70448" y="1828800"/>
            <a:ext cx="5468112" cy="1033271"/>
          </a:xfrm>
          <a:prstGeom prst="roundRect">
            <a:avLst>
              <a:gd name="adj" fmla="val 8000"/>
            </a:avLst>
          </a:prstGeom>
          <a:solidFill>
            <a:srgbClr val="081120"/>
          </a:solidFill>
          <a:ln>
            <a:solidFill>
              <a:srgbClr val="2D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98464" y="1920240"/>
            <a:ext cx="5212080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2E3EB"/>
                </a:solidFill>
                <a:latin typeface="Cascadia Code"/>
              </a:rPr>
              <a:t>This POC, Order Status: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C2E3EB"/>
                </a:solidFill>
                <a:latin typeface="Cascadia Code"/>
              </a:rPr>
              <a:t>http://127.0.0.1:8001/status/.well-known/agent-card.json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4612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246120"/>
            <a:ext cx="73152" cy="1828800"/>
          </a:xfrm>
          <a:prstGeom prst="rect">
            <a:avLst/>
          </a:prstGeom>
          <a:solidFill>
            <a:srgbClr val="5D9BFF"/>
          </a:solidFill>
          <a:ln>
            <a:solidFill>
              <a:srgbClr val="5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383279"/>
            <a:ext cx="29535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5D9BFF"/>
                </a:solidFill>
                <a:latin typeface="Aptos"/>
              </a:rPr>
              <a:t>1 • 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849624"/>
            <a:ext cx="2953512" cy="11155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F8FC"/>
                </a:solidFill>
                <a:latin typeface="Aptos"/>
              </a:rPr>
              <a:t>Coordinator reads registry.json to select capability and URLs.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24612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246120"/>
            <a:ext cx="73152" cy="1828800"/>
          </a:xfrm>
          <a:prstGeom prst="rect">
            <a:avLst/>
          </a:prstGeom>
          <a:solidFill>
            <a:srgbClr val="5BDAA3"/>
          </a:solidFill>
          <a:ln>
            <a:solidFill>
              <a:srgbClr val="5BD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7" y="3383279"/>
            <a:ext cx="29535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5BDAA3"/>
                </a:solidFill>
                <a:latin typeface="Aptos"/>
              </a:rPr>
              <a:t>2 • FETCH 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3849624"/>
            <a:ext cx="2953512" cy="11155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F8FC"/>
                </a:solidFill>
                <a:latin typeface="Aptos"/>
              </a:rPr>
              <a:t>HTTP GET card_url; card identifies agent and advertises skills.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24612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246120"/>
            <a:ext cx="73152" cy="1828800"/>
          </a:xfrm>
          <a:prstGeom prst="rect">
            <a:avLst/>
          </a:prstGeom>
          <a:solidFill>
            <a:srgbClr val="41D3E0"/>
          </a:solidFill>
          <a:ln>
            <a:solidFill>
              <a:srgbClr val="41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3383279"/>
            <a:ext cx="295351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41D3E0"/>
                </a:solidFill>
                <a:latin typeface="Aptos"/>
              </a:rPr>
              <a:t>3 • SEND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3849624"/>
            <a:ext cx="2953512" cy="11155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F8FC"/>
                </a:solidFill>
                <a:latin typeface="Aptos"/>
              </a:rPr>
              <a:t>HTTP POST message/send to the card's advertised agent URL.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440680"/>
            <a:ext cx="10424160" cy="621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FC25C"/>
                </a:solidFill>
                <a:latin typeface="Aptos"/>
              </a:rPr>
              <a:t>The card URL ends in /.well-known/agent-card.json; the card’s url points to the A2A endpoint, not the card itself.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Four Agent Cards: inspect each one before the live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These exact paths are also recorded in registry.json; use these URLs in the browser or PowerShell.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47088"/>
          <a:ext cx="10899648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  <a:gridCol w="7150608"/>
              </a:tblGrid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41D3E0"/>
                          </a:solidFill>
                          <a:latin typeface="Aptos"/>
                        </a:rPr>
                        <a:t>Agent</a:t>
                      </a:r>
                    </a:p>
                  </a:txBody>
                  <a:tcPr marL="73152" marR="54864" marT="45720" marB="36576">
                    <a:solidFill>
                      <a:srgbClr val="1E33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41D3E0"/>
                          </a:solidFill>
                          <a:latin typeface="Aptos"/>
                        </a:rPr>
                        <a:t>Capability</a:t>
                      </a:r>
                    </a:p>
                  </a:txBody>
                  <a:tcPr marL="73152" marR="54864" marT="45720" marB="36576">
                    <a:solidFill>
                      <a:srgbClr val="1E33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300" b="1">
                          <a:solidFill>
                            <a:srgbClr val="41D3E0"/>
                          </a:solidFill>
                          <a:latin typeface="Aptos"/>
                        </a:rPr>
                        <a:t>Agent Card URL</a:t>
                      </a:r>
                    </a:p>
                  </a:txBody>
                  <a:tcPr marL="73152" marR="54864" marT="45720" marB="36576">
                    <a:solidFill>
                      <a:srgbClr val="1E334E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4F8FC"/>
                          </a:solidFill>
                          <a:latin typeface="Aptos"/>
                        </a:rPr>
                        <a:t>Order Status</a:t>
                      </a:r>
                    </a:p>
                  </a:txBody>
                  <a:tcPr marL="73152" marR="54864" marT="45720" marB="36576">
                    <a:solidFill>
                      <a:srgbClr val="1829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ADBED0"/>
                          </a:solidFill>
                          <a:latin typeface="Aptos"/>
                        </a:rPr>
                        <a:t>get_order_status</a:t>
                      </a:r>
                    </a:p>
                  </a:txBody>
                  <a:tcPr marL="73152" marR="54864" marT="45720" marB="36576">
                    <a:solidFill>
                      <a:srgbClr val="1829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F4F8FC"/>
                          </a:solidFill>
                          <a:latin typeface="Aptos"/>
                        </a:rPr>
                        <a:t>http://127.0.0.1:8001/status/.well-known/agent-card.json</a:t>
                      </a:r>
                    </a:p>
                  </a:txBody>
                  <a:tcPr marL="73152" marR="54864" marT="45720" marB="36576">
                    <a:solidFill>
                      <a:srgbClr val="182941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4F8FC"/>
                          </a:solidFill>
                          <a:latin typeface="Aptos"/>
                        </a:rPr>
                        <a:t>Order Delivery</a:t>
                      </a:r>
                    </a:p>
                  </a:txBody>
                  <a:tcPr marL="73152" marR="54864" marT="45720" marB="36576">
                    <a:solidFill>
                      <a:srgbClr val="1C2E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ADBED0"/>
                          </a:solidFill>
                          <a:latin typeface="Aptos"/>
                        </a:rPr>
                        <a:t>get_estimated_delivery</a:t>
                      </a:r>
                    </a:p>
                  </a:txBody>
                  <a:tcPr marL="73152" marR="54864" marT="45720" marB="36576">
                    <a:solidFill>
                      <a:srgbClr val="1C2E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F4F8FC"/>
                          </a:solidFill>
                          <a:latin typeface="Aptos"/>
                        </a:rPr>
                        <a:t>http://127.0.0.1:8001/delivery/.well-known/agent-card.json</a:t>
                      </a:r>
                    </a:p>
                  </a:txBody>
                  <a:tcPr marL="73152" marR="54864" marT="45720" marB="36576">
                    <a:solidFill>
                      <a:srgbClr val="1C2E46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4F8FC"/>
                          </a:solidFill>
                          <a:latin typeface="Aptos"/>
                        </a:rPr>
                        <a:t>Payment Status</a:t>
                      </a:r>
                    </a:p>
                  </a:txBody>
                  <a:tcPr marL="73152" marR="54864" marT="45720" marB="36576">
                    <a:solidFill>
                      <a:srgbClr val="1829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ADBED0"/>
                          </a:solidFill>
                          <a:latin typeface="Aptos"/>
                        </a:rPr>
                        <a:t>get_payment_status</a:t>
                      </a:r>
                    </a:p>
                  </a:txBody>
                  <a:tcPr marL="73152" marR="54864" marT="45720" marB="36576">
                    <a:solidFill>
                      <a:srgbClr val="1829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F4F8FC"/>
                          </a:solidFill>
                          <a:latin typeface="Aptos"/>
                        </a:rPr>
                        <a:t>http://127.0.0.1:8002/status/.well-known/agent-card.json</a:t>
                      </a:r>
                    </a:p>
                  </a:txBody>
                  <a:tcPr marL="73152" marR="54864" marT="45720" marB="36576">
                    <a:solidFill>
                      <a:srgbClr val="182941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F4F8FC"/>
                          </a:solidFill>
                          <a:latin typeface="Aptos"/>
                        </a:rPr>
                        <a:t>Payment Amount</a:t>
                      </a:r>
                    </a:p>
                  </a:txBody>
                  <a:tcPr marL="73152" marR="54864" marT="45720" marB="36576">
                    <a:solidFill>
                      <a:srgbClr val="1C2E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ADBED0"/>
                          </a:solidFill>
                          <a:latin typeface="Aptos"/>
                        </a:rPr>
                        <a:t>get_payment_amount</a:t>
                      </a:r>
                    </a:p>
                  </a:txBody>
                  <a:tcPr marL="73152" marR="54864" marT="45720" marB="36576">
                    <a:solidFill>
                      <a:srgbClr val="1C2E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F4F8FC"/>
                          </a:solidFill>
                          <a:latin typeface="Aptos"/>
                        </a:rPr>
                        <a:t>http://127.0.0.1:8002/amount/.well-known/agent-card.json</a:t>
                      </a:r>
                    </a:p>
                  </a:txBody>
                  <a:tcPr marL="73152" marR="54864" marT="45720" marB="36576">
                    <a:solidFill>
                      <a:srgbClr val="1C2E4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5394960"/>
            <a:ext cx="104241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FC25C"/>
                </a:solidFill>
                <a:latin typeface="Aptos"/>
              </a:rPr>
              <a:t>Ask: What changes between these cards? Expected: identity, advertised skill, and endpoint path.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REQUEST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To-and-fro: coordinator routes, specialists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For a combined order + payment question, two independent A2A calls travel through the same coordinator.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1645920" cy="658368"/>
          </a:xfrm>
          <a:prstGeom prst="roundRect">
            <a:avLst>
              <a:gd name="adj" fmla="val 8000"/>
            </a:avLst>
          </a:prstGeom>
          <a:solidFill>
            <a:srgbClr val="1E334E"/>
          </a:solidFill>
          <a:ln>
            <a:solidFill>
              <a:srgbClr val="1E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83664"/>
            <a:ext cx="1499616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4F8FC"/>
                </a:solidFill>
                <a:latin typeface="Aptos"/>
              </a:rPr>
              <a:t>User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7320" y="2468880"/>
            <a:ext cx="0" cy="3273552"/>
          </a:xfrm>
          <a:prstGeom prst="line">
            <a:avLst/>
          </a:prstGeom>
          <a:ln w="15240">
            <a:solidFill>
              <a:srgbClr val="536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64992" y="1783080"/>
            <a:ext cx="1645920" cy="658368"/>
          </a:xfrm>
          <a:prstGeom prst="roundRect">
            <a:avLst>
              <a:gd name="adj" fmla="val 8000"/>
            </a:avLst>
          </a:prstGeom>
          <a:solidFill>
            <a:srgbClr val="1E334E"/>
          </a:solidFill>
          <a:ln>
            <a:solidFill>
              <a:srgbClr val="1E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883664"/>
            <a:ext cx="1499616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4F8FC"/>
                </a:solidFill>
                <a:latin typeface="Aptos"/>
              </a:rPr>
              <a:t>Coordinator</a:t>
            </a:r>
          </a:p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4F8FC"/>
                </a:solidFill>
                <a:latin typeface="Aptos"/>
              </a:rPr>
              <a:t>ADK :8000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87952" y="2468880"/>
            <a:ext cx="0" cy="3273552"/>
          </a:xfrm>
          <a:prstGeom prst="line">
            <a:avLst/>
          </a:prstGeom>
          <a:ln w="15240">
            <a:solidFill>
              <a:srgbClr val="536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37960" y="1783080"/>
            <a:ext cx="1645920" cy="658368"/>
          </a:xfrm>
          <a:prstGeom prst="roundRect">
            <a:avLst>
              <a:gd name="adj" fmla="val 8000"/>
            </a:avLst>
          </a:prstGeom>
          <a:solidFill>
            <a:srgbClr val="1E334E"/>
          </a:solidFill>
          <a:ln>
            <a:solidFill>
              <a:srgbClr val="1E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883664"/>
            <a:ext cx="1499616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4F8FC"/>
                </a:solidFill>
                <a:latin typeface="Aptos"/>
              </a:rPr>
              <a:t>Order A2A</a:t>
            </a:r>
          </a:p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4F8FC"/>
                </a:solidFill>
                <a:latin typeface="Aptos"/>
              </a:rPr>
              <a:t>:8001/status/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60920" y="2468880"/>
            <a:ext cx="0" cy="3273552"/>
          </a:xfrm>
          <a:prstGeom prst="line">
            <a:avLst/>
          </a:prstGeom>
          <a:ln w="15240">
            <a:solidFill>
              <a:srgbClr val="536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45167" y="1783080"/>
            <a:ext cx="1645920" cy="658368"/>
          </a:xfrm>
          <a:prstGeom prst="roundRect">
            <a:avLst>
              <a:gd name="adj" fmla="val 8000"/>
            </a:avLst>
          </a:prstGeom>
          <a:solidFill>
            <a:srgbClr val="1E334E"/>
          </a:solidFill>
          <a:ln>
            <a:solidFill>
              <a:srgbClr val="1E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19" y="1883664"/>
            <a:ext cx="1499616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4F8FC"/>
                </a:solidFill>
                <a:latin typeface="Aptos"/>
              </a:rPr>
              <a:t>Payment A2A</a:t>
            </a:r>
          </a:p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4F8FC"/>
                </a:solidFill>
                <a:latin typeface="Aptos"/>
              </a:rPr>
              <a:t>:8002/status/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168128" y="2468880"/>
            <a:ext cx="0" cy="3273552"/>
          </a:xfrm>
          <a:prstGeom prst="line">
            <a:avLst/>
          </a:prstGeom>
          <a:ln w="15240">
            <a:solidFill>
              <a:srgbClr val="536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17320" y="2788920"/>
            <a:ext cx="2770632" cy="0"/>
          </a:xfrm>
          <a:prstGeom prst="line">
            <a:avLst/>
          </a:prstGeom>
          <a:ln w="21590">
            <a:solidFill>
              <a:srgbClr val="41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490472" y="2496312"/>
            <a:ext cx="2624328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Ask: order + payment for ORD-1001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87952" y="3346704"/>
            <a:ext cx="3172968" cy="0"/>
          </a:xfrm>
          <a:prstGeom prst="line">
            <a:avLst/>
          </a:prstGeom>
          <a:ln w="21590">
            <a:solidFill>
              <a:srgbClr val="5D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61104" y="3054096"/>
            <a:ext cx="3026664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5D9BFF"/>
                </a:solidFill>
                <a:latin typeface="Aptos"/>
              </a:rPr>
              <a:t>GET Agent Card → POST message/send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187952" y="3913632"/>
            <a:ext cx="3172968" cy="0"/>
          </a:xfrm>
          <a:prstGeom prst="line">
            <a:avLst/>
          </a:prstGeom>
          <a:ln w="21590">
            <a:solidFill>
              <a:srgbClr val="5BD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61104" y="3621024"/>
            <a:ext cx="3026664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5BDAA3"/>
                </a:solidFill>
                <a:latin typeface="Aptos"/>
              </a:rPr>
              <a:t>Order status result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87952" y="4489704"/>
            <a:ext cx="5980176" cy="0"/>
          </a:xfrm>
          <a:prstGeom prst="line">
            <a:avLst/>
          </a:prstGeom>
          <a:ln w="21590">
            <a:solidFill>
              <a:srgbClr val="5D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261104" y="4197096"/>
            <a:ext cx="5833871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5D9BFF"/>
                </a:solidFill>
                <a:latin typeface="Aptos"/>
              </a:rPr>
              <a:t>GET Agent Card → POST message/send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4187952" y="5047488"/>
            <a:ext cx="5980176" cy="0"/>
          </a:xfrm>
          <a:prstGeom prst="line">
            <a:avLst/>
          </a:prstGeom>
          <a:ln w="21590">
            <a:solidFill>
              <a:srgbClr val="5BD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261104" y="4754879"/>
            <a:ext cx="5833871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5BDAA3"/>
                </a:solidFill>
                <a:latin typeface="Aptos"/>
              </a:rPr>
              <a:t>Payment result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1417320" y="5559552"/>
            <a:ext cx="2770632" cy="0"/>
          </a:xfrm>
          <a:prstGeom prst="line">
            <a:avLst/>
          </a:prstGeom>
          <a:ln w="21590">
            <a:solidFill>
              <a:srgbClr val="FFC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490472" y="5266944"/>
            <a:ext cx="2624328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FFC25C"/>
                </a:solidFill>
                <a:latin typeface="Aptos"/>
              </a:rPr>
              <a:t>Combined, fact-based answer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WIRE-LEVEL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What the coordinator sends over A2A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A compact JSON-RPC request: method + message envelope + text Part.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6583680" cy="3950208"/>
          </a:xfrm>
          <a:prstGeom prst="roundRect">
            <a:avLst>
              <a:gd name="adj" fmla="val 8000"/>
            </a:avLst>
          </a:prstGeom>
          <a:solidFill>
            <a:srgbClr val="081120"/>
          </a:solidFill>
          <a:ln>
            <a:solidFill>
              <a:srgbClr val="2D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74519"/>
            <a:ext cx="6327648" cy="3767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2E3EB"/>
                </a:solidFill>
                <a:latin typeface="Cascadia Code"/>
              </a:rPr>
              <a:t>{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2E3EB"/>
                </a:solidFill>
                <a:latin typeface="Cascadia Code"/>
              </a:rPr>
              <a:t>  "jsonrpc": "2.0",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2E3EB"/>
                </a:solidFill>
                <a:latin typeface="Cascadia Code"/>
              </a:rPr>
              <a:t>  "id": "&lt;fresh request UUID&gt;",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2E3EB"/>
                </a:solidFill>
                <a:latin typeface="Cascadia Code"/>
              </a:rPr>
              <a:t>  "method": "message/send",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2E3EB"/>
                </a:solidFill>
                <a:latin typeface="Cascadia Code"/>
              </a:rPr>
              <a:t>  "params": {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2E3EB"/>
                </a:solidFill>
                <a:latin typeface="Cascadia Code"/>
              </a:rPr>
              <a:t>    "message": {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2E3EB"/>
                </a:solidFill>
                <a:latin typeface="Cascadia Code"/>
              </a:rPr>
              <a:t>      "messageId": "&lt;fresh message UUID&gt;",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2E3EB"/>
                </a:solidFill>
                <a:latin typeface="Cascadia Code"/>
              </a:rPr>
              <a:t>      "role": "user",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2E3EB"/>
                </a:solidFill>
                <a:latin typeface="Cascadia Code"/>
              </a:rPr>
              <a:t>      "parts": [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2E3EB"/>
                </a:solidFill>
                <a:latin typeface="Cascadia Code"/>
              </a:rPr>
              <a:t>        {"type": "text", "text": "Check order ORD-1001"}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2E3EB"/>
                </a:solidFill>
                <a:latin typeface="Cascadia Code"/>
              </a:rPr>
              <a:t>      ]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2E3EB"/>
                </a:solidFill>
                <a:latin typeface="Cascadia Code"/>
              </a:rPr>
              <a:t>    }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2E3EB"/>
                </a:solidFill>
                <a:latin typeface="Cascadia Code"/>
              </a:rPr>
              <a:t>  }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2E3EB"/>
                </a:solidFill>
                <a:latin typeface="Cascadia Code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865376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0" y="1865376"/>
            <a:ext cx="73152" cy="1051560"/>
          </a:xfrm>
          <a:prstGeom prst="rect">
            <a:avLst/>
          </a:prstGeom>
          <a:solidFill>
            <a:srgbClr val="5D9BFF"/>
          </a:solidFill>
          <a:ln>
            <a:solidFill>
              <a:srgbClr val="5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8" y="2002536"/>
            <a:ext cx="327355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5D9BFF"/>
                </a:solidFill>
                <a:latin typeface="Aptos"/>
              </a:rPr>
              <a:t>JSON-RPC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2468880"/>
            <a:ext cx="3273552" cy="3383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F4F8FC"/>
                </a:solidFill>
                <a:latin typeface="Aptos"/>
              </a:rPr>
              <a:t>Correlates the request/response exchange.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090672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3090672"/>
            <a:ext cx="73152" cy="1051560"/>
          </a:xfrm>
          <a:prstGeom prst="rect">
            <a:avLst/>
          </a:prstGeom>
          <a:solidFill>
            <a:srgbClr val="41D3E0"/>
          </a:solidFill>
          <a:ln>
            <a:solidFill>
              <a:srgbClr val="41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8" y="3227832"/>
            <a:ext cx="327355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41D3E0"/>
                </a:solidFill>
                <a:latin typeface="Aptos"/>
              </a:rPr>
              <a:t>messageId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3694176"/>
            <a:ext cx="3273552" cy="3383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F4F8FC"/>
                </a:solidFill>
                <a:latin typeface="Aptos"/>
              </a:rPr>
              <a:t>Identifies this A2A Message.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4315968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4315968"/>
            <a:ext cx="73152" cy="1051560"/>
          </a:xfrm>
          <a:prstGeom prst="rect">
            <a:avLst/>
          </a:prstGeom>
          <a:solidFill>
            <a:srgbClr val="5BDAA3"/>
          </a:solidFill>
          <a:ln>
            <a:solidFill>
              <a:srgbClr val="5BD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2128" y="4453128"/>
            <a:ext cx="3273552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5BDAA3"/>
                </a:solidFill>
                <a:latin typeface="Aptos"/>
              </a:rPr>
              <a:t>Part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4919472"/>
            <a:ext cx="3273552" cy="3383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F4F8FC"/>
                </a:solidFill>
                <a:latin typeface="Aptos"/>
              </a:rPr>
              <a:t>This POC sends plain text; executor extracts it with get_user_input().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925312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FC25C"/>
                </a:solidFill>
                <a:latin typeface="Aptos"/>
              </a:rPr>
              <a:t>The code generates these two UUIDs; it does not explicitly attach contextId or taskId in the request.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INSIDE THE SPECIALISTS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Specialists do the work behind the A2A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The coordinator does not need to know whether an agent uses LangGraph or ordinary Python.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3456432" cy="324612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828800"/>
            <a:ext cx="73152" cy="3246120"/>
          </a:xfrm>
          <a:prstGeom prst="rect">
            <a:avLst/>
          </a:prstGeom>
          <a:solidFill>
            <a:srgbClr val="5D9BFF"/>
          </a:solidFill>
          <a:ln>
            <a:solidFill>
              <a:srgbClr val="5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965960"/>
            <a:ext cx="307238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5D9BFF"/>
                </a:solidFill>
                <a:latin typeface="Aptos"/>
              </a:rPr>
              <a:t>ORDER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3072384" cy="25328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Input text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→ parse ORD-1001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→ LangGraph node: lookup_order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→ return JSON text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Demo: SHIPPED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56432" cy="324612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73152" cy="3246120"/>
          </a:xfrm>
          <a:prstGeom prst="rect">
            <a:avLst/>
          </a:prstGeom>
          <a:solidFill>
            <a:srgbClr val="41D3E0"/>
          </a:solidFill>
          <a:ln>
            <a:solidFill>
              <a:srgbClr val="41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07238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41D3E0"/>
                </a:solidFill>
                <a:latin typeface="Aptos"/>
              </a:rPr>
              <a:t>ORDER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32304"/>
            <a:ext cx="3072384" cy="25328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Input text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→ parse order ID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→ Python lookup in ORDERS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→ return JSON text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Demo: 2026-10-14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1828800"/>
            <a:ext cx="3456432" cy="324612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6" y="1828800"/>
            <a:ext cx="73152" cy="3246120"/>
          </a:xfrm>
          <a:prstGeom prst="rect">
            <a:avLst/>
          </a:prstGeom>
          <a:solidFill>
            <a:srgbClr val="5BDAA3"/>
          </a:solidFill>
          <a:ln>
            <a:solidFill>
              <a:srgbClr val="5BD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965960"/>
            <a:ext cx="307238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5BDAA3"/>
                </a:solidFill>
                <a:latin typeface="Aptos"/>
              </a:rPr>
              <a:t>PAYMENT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432304"/>
            <a:ext cx="3072384" cy="253288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Status: lookup_payment()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Amount: same mock lookup, narrower output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Demo: PAID • 129.95 USD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440680"/>
            <a:ext cx="1042416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F4F8FC"/>
                </a:solidFill>
                <a:latin typeface="Aptos"/>
              </a:rPr>
              <a:t>A2A standardizes the outside exchange; each team controls the inside implementation.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Live demo setup: start, inspect, then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From the project root, in four PowerShell terminals (one terminal is for checks).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5394960" cy="932688"/>
          </a:xfrm>
          <a:prstGeom prst="roundRect">
            <a:avLst>
              <a:gd name="adj" fmla="val 8000"/>
            </a:avLst>
          </a:prstGeom>
          <a:solidFill>
            <a:srgbClr val="081120"/>
          </a:solidFill>
          <a:ln>
            <a:solidFill>
              <a:srgbClr val="2D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74519"/>
            <a:ext cx="5138928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C2E3EB"/>
                </a:solidFill>
                <a:latin typeface="Cascadia Code"/>
              </a:rPr>
              <a:t>Terminal 1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C2E3EB"/>
                </a:solidFill>
                <a:latin typeface="Cascadia Code"/>
              </a:rPr>
              <a:t>uvicorn agents.order_agent:app --host 127.0.0.1 --port 8001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783080"/>
            <a:ext cx="5074920" cy="932688"/>
          </a:xfrm>
          <a:prstGeom prst="roundRect">
            <a:avLst>
              <a:gd name="adj" fmla="val 8000"/>
            </a:avLst>
          </a:prstGeom>
          <a:solidFill>
            <a:srgbClr val="081120"/>
          </a:solidFill>
          <a:ln>
            <a:solidFill>
              <a:srgbClr val="2D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1874519"/>
            <a:ext cx="4818888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C2E3EB"/>
                </a:solidFill>
                <a:latin typeface="Cascadia Code"/>
              </a:rPr>
              <a:t>Terminal 2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C2E3EB"/>
                </a:solidFill>
                <a:latin typeface="Cascadia Code"/>
              </a:rPr>
              <a:t>uvicorn agents.payment_agent:app --host 127.0.0.1 --port 8002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953512"/>
            <a:ext cx="5394960" cy="932688"/>
          </a:xfrm>
          <a:prstGeom prst="roundRect">
            <a:avLst>
              <a:gd name="adj" fmla="val 8000"/>
            </a:avLst>
          </a:prstGeom>
          <a:solidFill>
            <a:srgbClr val="081120"/>
          </a:solidFill>
          <a:ln>
            <a:solidFill>
              <a:srgbClr val="2D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044952"/>
            <a:ext cx="5138928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2E3EB"/>
                </a:solidFill>
                <a:latin typeface="Cascadia Code"/>
              </a:rPr>
              <a:t>Terminal 3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2E3EB"/>
                </a:solidFill>
                <a:latin typeface="Cascadia Code"/>
              </a:rPr>
              <a:t>adk web coordinator --port 8000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953512"/>
            <a:ext cx="5074920" cy="932688"/>
          </a:xfrm>
          <a:prstGeom prst="roundRect">
            <a:avLst>
              <a:gd name="adj" fmla="val 8000"/>
            </a:avLst>
          </a:prstGeom>
          <a:solidFill>
            <a:srgbClr val="081120"/>
          </a:solidFill>
          <a:ln>
            <a:solidFill>
              <a:srgbClr val="2D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3044952"/>
            <a:ext cx="4818888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2E3EB"/>
                </a:solidFill>
                <a:latin typeface="Cascadia Code"/>
              </a:rPr>
              <a:t>Terminal 4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2E3EB"/>
                </a:solidFill>
                <a:latin typeface="Cascadia Code"/>
              </a:rPr>
              <a:t>python -m tests.smoke_test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61104"/>
            <a:ext cx="104241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41D3E0"/>
                </a:solidFill>
                <a:latin typeface="Aptos"/>
              </a:rPr>
              <a:t>Card checks (PowerShell):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654296"/>
            <a:ext cx="10680192" cy="950976"/>
          </a:xfrm>
          <a:prstGeom prst="roundRect">
            <a:avLst>
              <a:gd name="adj" fmla="val 8000"/>
            </a:avLst>
          </a:prstGeom>
          <a:solidFill>
            <a:srgbClr val="081120"/>
          </a:solidFill>
          <a:ln>
            <a:solidFill>
              <a:srgbClr val="2D4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745736"/>
            <a:ext cx="10424160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C2E3EB"/>
                </a:solidFill>
                <a:latin typeface="Cascadia Code"/>
              </a:rPr>
              <a:t>Invoke-RestMethod http://127.0.0.1:8001/status/.well-known/agent-card.json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C2E3EB"/>
                </a:solidFill>
                <a:latin typeface="Cascadia Code"/>
              </a:rPr>
              <a:t>Invoke-RestMethod http://127.0.0.1:8001/delivery/.well-known/agent-card.json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C2E3EB"/>
                </a:solidFill>
                <a:latin typeface="Cascadia Code"/>
              </a:rPr>
              <a:t>Invoke-RestMethod http://127.0.0.1:8002/status/.well-known/agent-card.json</a:t>
            </a:r>
          </a:p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C2E3EB"/>
                </a:solidFill>
                <a:latin typeface="Cascadia Code"/>
              </a:rPr>
              <a:t>Invoke-RestMethod http://127.0.0.1:8002/amount/.well-known/agent-card.json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TEST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Testing questions: call each capability directly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Use ADK Web prompts to demonstrate routing; these are fixed mock facts, not live order/payment data.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783080"/>
          <a:ext cx="10899648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4114800"/>
                <a:gridCol w="5184648"/>
              </a:tblGrid>
              <a:tr h="61395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41D3E0"/>
                          </a:solidFill>
                          <a:latin typeface="Aptos"/>
                        </a:rPr>
                        <a:t>Capability</a:t>
                      </a:r>
                    </a:p>
                  </a:txBody>
                  <a:tcPr marL="73152" marR="54864" marT="45720" marB="36576">
                    <a:solidFill>
                      <a:srgbClr val="1E33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41D3E0"/>
                          </a:solidFill>
                          <a:latin typeface="Aptos"/>
                        </a:rPr>
                        <a:t>Ask</a:t>
                      </a:r>
                    </a:p>
                  </a:txBody>
                  <a:tcPr marL="73152" marR="54864" marT="45720" marB="36576">
                    <a:solidFill>
                      <a:srgbClr val="1E33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41D3E0"/>
                          </a:solidFill>
                          <a:latin typeface="Aptos"/>
                        </a:rPr>
                        <a:t>Expected demo result</a:t>
                      </a:r>
                    </a:p>
                  </a:txBody>
                  <a:tcPr marL="73152" marR="54864" marT="45720" marB="36576">
                    <a:solidFill>
                      <a:srgbClr val="1E334E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4F8FC"/>
                          </a:solidFill>
                          <a:latin typeface="Aptos"/>
                        </a:rPr>
                        <a:t>Order status</a:t>
                      </a:r>
                    </a:p>
                  </a:txBody>
                  <a:tcPr marL="73152" marR="54864" marT="45720" marB="36576">
                    <a:solidFill>
                      <a:srgbClr val="1829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F4F8FC"/>
                          </a:solidFill>
                          <a:latin typeface="Aptos"/>
                        </a:rPr>
                        <a:t>Check order ORD-1001</a:t>
                      </a:r>
                    </a:p>
                  </a:txBody>
                  <a:tcPr marL="73152" marR="54864" marT="45720" marB="36576">
                    <a:solidFill>
                      <a:srgbClr val="1829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ADBED0"/>
                          </a:solidFill>
                          <a:latin typeface="Aptos"/>
                        </a:rPr>
                        <a:t>SHIPPED; estimated delivery 2026-10-14</a:t>
                      </a:r>
                    </a:p>
                  </a:txBody>
                  <a:tcPr marL="73152" marR="54864" marT="45720" marB="36576">
                    <a:solidFill>
                      <a:srgbClr val="182941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4F8FC"/>
                          </a:solidFill>
                          <a:latin typeface="Aptos"/>
                        </a:rPr>
                        <a:t>Order status</a:t>
                      </a:r>
                    </a:p>
                  </a:txBody>
                  <a:tcPr marL="73152" marR="54864" marT="45720" marB="36576">
                    <a:solidFill>
                      <a:srgbClr val="1C2E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F4F8FC"/>
                          </a:solidFill>
                          <a:latin typeface="Aptos"/>
                        </a:rPr>
                        <a:t>Check order ORD-1002</a:t>
                      </a:r>
                    </a:p>
                  </a:txBody>
                  <a:tcPr marL="73152" marR="54864" marT="45720" marB="36576">
                    <a:solidFill>
                      <a:srgbClr val="1C2E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ADBED0"/>
                          </a:solidFill>
                          <a:latin typeface="Aptos"/>
                        </a:rPr>
                        <a:t>PROCESSING; estimated delivery 2026-10-17</a:t>
                      </a:r>
                    </a:p>
                  </a:txBody>
                  <a:tcPr marL="73152" marR="54864" marT="45720" marB="36576">
                    <a:solidFill>
                      <a:srgbClr val="1C2E46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4F8FC"/>
                          </a:solidFill>
                          <a:latin typeface="Aptos"/>
                        </a:rPr>
                        <a:t>Delivery</a:t>
                      </a:r>
                    </a:p>
                  </a:txBody>
                  <a:tcPr marL="73152" marR="54864" marT="45720" marB="36576">
                    <a:solidFill>
                      <a:srgbClr val="1829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F4F8FC"/>
                          </a:solidFill>
                          <a:latin typeface="Aptos"/>
                        </a:rPr>
                        <a:t>When will ORD-1001 be delivered?</a:t>
                      </a:r>
                    </a:p>
                  </a:txBody>
                  <a:tcPr marL="73152" marR="54864" marT="45720" marB="36576">
                    <a:solidFill>
                      <a:srgbClr val="1829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ADBED0"/>
                          </a:solidFill>
                          <a:latin typeface="Aptos"/>
                        </a:rPr>
                        <a:t>2026-10-14</a:t>
                      </a:r>
                    </a:p>
                  </a:txBody>
                  <a:tcPr marL="73152" marR="54864" marT="45720" marB="36576">
                    <a:solidFill>
                      <a:srgbClr val="182941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4F8FC"/>
                          </a:solidFill>
                          <a:latin typeface="Aptos"/>
                        </a:rPr>
                        <a:t>Payment status</a:t>
                      </a:r>
                    </a:p>
                  </a:txBody>
                  <a:tcPr marL="73152" marR="54864" marT="45720" marB="36576">
                    <a:solidFill>
                      <a:srgbClr val="1C2E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F4F8FC"/>
                          </a:solidFill>
                          <a:latin typeface="Aptos"/>
                        </a:rPr>
                        <a:t>Check payment for ORD-1002</a:t>
                      </a:r>
                    </a:p>
                  </a:txBody>
                  <a:tcPr marL="73152" marR="54864" marT="45720" marB="36576">
                    <a:solidFill>
                      <a:srgbClr val="1C2E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ADBED0"/>
                          </a:solidFill>
                          <a:latin typeface="Aptos"/>
                        </a:rPr>
                        <a:t>PENDING; 74.50 USD</a:t>
                      </a:r>
                    </a:p>
                  </a:txBody>
                  <a:tcPr marL="73152" marR="54864" marT="45720" marB="36576">
                    <a:solidFill>
                      <a:srgbClr val="1C2E46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4F8FC"/>
                          </a:solidFill>
                          <a:latin typeface="Aptos"/>
                        </a:rPr>
                        <a:t>Payment amount</a:t>
                      </a:r>
                    </a:p>
                  </a:txBody>
                  <a:tcPr marL="73152" marR="54864" marT="45720" marB="36576">
                    <a:solidFill>
                      <a:srgbClr val="1829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F4F8FC"/>
                          </a:solidFill>
                          <a:latin typeface="Aptos"/>
                        </a:rPr>
                        <a:t>What is the amount for ORD-1001?</a:t>
                      </a:r>
                    </a:p>
                  </a:txBody>
                  <a:tcPr marL="73152" marR="54864" marT="45720" marB="36576">
                    <a:solidFill>
                      <a:srgbClr val="1829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ADBED0"/>
                          </a:solidFill>
                          <a:latin typeface="Aptos"/>
                        </a:rPr>
                        <a:t>129.95 USD</a:t>
                      </a:r>
                    </a:p>
                  </a:txBody>
                  <a:tcPr marL="73152" marR="54864" marT="45720" marB="36576">
                    <a:solidFill>
                      <a:srgbClr val="182941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4F8FC"/>
                          </a:solidFill>
                          <a:latin typeface="Aptos"/>
                        </a:rPr>
                        <a:t>Not found</a:t>
                      </a:r>
                    </a:p>
                  </a:txBody>
                  <a:tcPr marL="73152" marR="54864" marT="45720" marB="36576">
                    <a:solidFill>
                      <a:srgbClr val="1C2E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F4F8FC"/>
                          </a:solidFill>
                          <a:latin typeface="Aptos"/>
                        </a:rPr>
                        <a:t>Check order/payment ORD-9999</a:t>
                      </a:r>
                    </a:p>
                  </a:txBody>
                  <a:tcPr marL="73152" marR="54864" marT="45720" marB="36576">
                    <a:solidFill>
                      <a:srgbClr val="1C2E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ADBED0"/>
                          </a:solidFill>
                          <a:latin typeface="Aptos"/>
                        </a:rPr>
                        <a:t>found=false / record not found; no invented data</a:t>
                      </a:r>
                    </a:p>
                  </a:txBody>
                  <a:tcPr marL="73152" marR="54864" marT="45720" marB="36576">
                    <a:solidFill>
                      <a:srgbClr val="1C2E4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TEST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Testing questions: test orchestration, not just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These verify that the coordinator selects the right specialist(s) and combines only their results.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10680192" cy="804672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74519"/>
            <a:ext cx="4873752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41D3E0"/>
                </a:solidFill>
                <a:latin typeface="Aptos"/>
              </a:rPr>
              <a:t>“Check order ORD-1001 and tell me its payment status.”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7608" y="1874519"/>
            <a:ext cx="5166360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F4F8FC"/>
                </a:solidFill>
                <a:latin typeface="Aptos"/>
              </a:rPr>
              <a:t>Calls order status + payment status; SHIPPED and PAID.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788920"/>
            <a:ext cx="10680192" cy="804672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880360"/>
            <a:ext cx="4873752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41D3E0"/>
                </a:solidFill>
                <a:latin typeface="Aptos"/>
              </a:rPr>
              <a:t>“For ORD-1002, give me delivery date and payment amount.”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7608" y="2880360"/>
            <a:ext cx="5166360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F4F8FC"/>
                </a:solidFill>
                <a:latin typeface="Aptos"/>
              </a:rPr>
              <a:t>Calls delivery + payment amount; 2026-10-17 and 74.50 USD.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794760"/>
            <a:ext cx="10680192" cy="804672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886200"/>
            <a:ext cx="4873752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41D3E0"/>
                </a:solidFill>
                <a:latin typeface="Aptos"/>
              </a:rPr>
              <a:t>“What is the payment status and amount for ORD-1001?”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7608" y="3886200"/>
            <a:ext cx="5166360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F4F8FC"/>
                </a:solidFill>
                <a:latin typeface="Aptos"/>
              </a:rPr>
              <a:t>Should use relevant payment capability(ies); PAID, 129.95 USD.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4800600"/>
            <a:ext cx="10680192" cy="804672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4892040"/>
            <a:ext cx="4873752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41D3E0"/>
                </a:solidFill>
                <a:latin typeface="Aptos"/>
              </a:rPr>
              <a:t>“Find order and payment details for ORD-9999.”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608" y="4892040"/>
            <a:ext cx="5166360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F4F8FC"/>
                </a:solidFill>
                <a:latin typeface="Aptos"/>
              </a:rPr>
              <a:t>Both specialists report not found; coordinator clearly says unknown.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5916168"/>
            <a:ext cx="102870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FC25C"/>
                </a:solidFill>
                <a:latin typeface="Aptos"/>
              </a:rPr>
              <a:t>Evaluation: right capability • correct agent • grounded facts • clear failure behavior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DISCUSSION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Ask these questions while watching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Use them to confirm understanding of both the architecture and the protocol.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828800"/>
            <a:ext cx="5230368" cy="96012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56816"/>
            <a:ext cx="43891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41D3E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1929384"/>
            <a:ext cx="4279392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F8FC"/>
                </a:solidFill>
                <a:latin typeface="Aptos"/>
              </a:rPr>
              <a:t>Which component decides which specialist to call?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1828800"/>
            <a:ext cx="5230368" cy="96012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956816"/>
            <a:ext cx="43891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5BDAA3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1736" y="1929384"/>
            <a:ext cx="4279392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F8FC"/>
                </a:solidFill>
                <a:latin typeface="Aptos"/>
              </a:rPr>
              <a:t>Does the registry contain the Agent Card itself or its URL?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3063240"/>
            <a:ext cx="5230368" cy="96012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191256"/>
            <a:ext cx="43891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41D3E0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3163824"/>
            <a:ext cx="4279392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F8FC"/>
                </a:solidFill>
                <a:latin typeface="Aptos"/>
              </a:rPr>
              <a:t>What is the difference between card_url and the card’s advertised url?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3063240"/>
            <a:ext cx="5230368" cy="96012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3191256"/>
            <a:ext cx="43891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5BDAA3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1736" y="3163824"/>
            <a:ext cx="4279392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F8FC"/>
                </a:solidFill>
                <a:latin typeface="Aptos"/>
              </a:rPr>
              <a:t>Where do you see messageId? Where would taskId/contextId matter?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4297680"/>
            <a:ext cx="5230368" cy="96012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425696"/>
            <a:ext cx="43891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41D3E0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4398264"/>
            <a:ext cx="4279392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F8FC"/>
                </a:solidFill>
                <a:latin typeface="Aptos"/>
              </a:rPr>
              <a:t>Is this POC using MCP? What would MCP add to this architecture?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0216" y="4297680"/>
            <a:ext cx="5230368" cy="96012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7" y="4425696"/>
            <a:ext cx="438912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5BDAA3"/>
                </a:solidFill>
                <a:latin typeface="Aptos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4398264"/>
            <a:ext cx="4279392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F8FC"/>
                </a:solidFill>
                <a:latin typeface="Aptos"/>
              </a:rPr>
              <a:t>What should happen if the card endpoint is up but message/send fails?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TEST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Negative tests: make the failure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A reliable demo explains what broke and where—not only the successful path.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56432" cy="224028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2240280"/>
          </a:xfrm>
          <a:prstGeom prst="rect">
            <a:avLst/>
          </a:prstGeom>
          <a:solidFill>
            <a:srgbClr val="FF6969"/>
          </a:solidFill>
          <a:ln>
            <a:solidFill>
              <a:srgbClr val="FF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65960"/>
            <a:ext cx="307238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FF6969"/>
                </a:solidFill>
                <a:latin typeface="Aptos"/>
              </a:rPr>
              <a:t>STOP ONE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32304"/>
            <a:ext cx="3072384" cy="1527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F8FC"/>
                </a:solidFill>
                <a:latin typeface="Aptos"/>
              </a:rPr>
              <a:t>Stop payment server; ask for payment status.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F8FC"/>
                </a:solidFill>
                <a:latin typeface="Aptos"/>
              </a:rPr>
              <a:t>Expected: coordinator reports HTTP/A2A call failure; order path may still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56432" cy="224028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73152" cy="2240280"/>
          </a:xfrm>
          <a:prstGeom prst="rect">
            <a:avLst/>
          </a:prstGeom>
          <a:solidFill>
            <a:srgbClr val="FFC25C"/>
          </a:solidFill>
          <a:ln>
            <a:solidFill>
              <a:srgbClr val="FFC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07238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FFC25C"/>
                </a:solidFill>
                <a:latin typeface="Aptos"/>
              </a:rPr>
              <a:t>UNKNOWN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32304"/>
            <a:ext cx="3072384" cy="1527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F8FC"/>
                </a:solidFill>
                <a:latin typeface="Aptos"/>
              </a:rPr>
              <a:t>Ask about ORD-9999.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F8FC"/>
                </a:solidFill>
                <a:latin typeface="Aptos"/>
              </a:rPr>
              <a:t>Expected: found=false / not found. The coordinator must not fabricate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828800"/>
            <a:ext cx="3456432" cy="224028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1828800"/>
            <a:ext cx="73152" cy="2240280"/>
          </a:xfrm>
          <a:prstGeom prst="rect">
            <a:avLst/>
          </a:prstGeom>
          <a:solidFill>
            <a:srgbClr val="5D9BFF"/>
          </a:solidFill>
          <a:ln>
            <a:solidFill>
              <a:srgbClr val="5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965960"/>
            <a:ext cx="307238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5D9BFF"/>
                </a:solidFill>
                <a:latin typeface="Aptos"/>
              </a:rPr>
              <a:t>UNKNOWN AGENT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432304"/>
            <a:ext cx="3072384" cy="1527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F8FC"/>
                </a:solidFill>
                <a:latin typeface="Aptos"/>
              </a:rPr>
              <a:t>Call call_agent with an unregistered ID.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F8FC"/>
                </a:solidFill>
                <a:latin typeface="Apto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4F8FC"/>
                </a:solidFill>
                <a:latin typeface="Aptos"/>
              </a:rPr>
              <a:t>Expected: clear Unknown agent_id error.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81728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0" i="0">
                <a:solidFill>
                  <a:srgbClr val="ADBED0"/>
                </a:solidFill>
                <a:latin typeface="Aptos"/>
              </a:rPr>
              <a:t>POC boundary: loopback HTTP • local JSON registry • in-memory task stores • mock data • no auth/TLS</a:t>
            </a:r>
          </a:p>
          <a:p>
            <a:pPr algn="ctr">
              <a:spcAft>
                <a:spcPts val="500"/>
              </a:spcAft>
            </a:pPr>
            <a:r>
              <a:rPr sz="1500" b="0" i="0">
                <a:solidFill>
                  <a:srgbClr val="ADBED0"/>
                </a:solidFill>
                <a:latin typeface="Aptos"/>
              </a:rPr>
              <a:t>Production follow-up: authenticated transport, trusted discovery, persistent state, timeouts/retries, observability.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Where MCP would fit next to this A2A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A realistic extension keeps each protocol in its lane.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2212848" cy="1463040"/>
          </a:xfrm>
          <a:prstGeom prst="roundRect">
            <a:avLst>
              <a:gd name="adj" fmla="val 8000"/>
            </a:avLst>
          </a:prstGeom>
          <a:solidFill>
            <a:srgbClr val="1E334E"/>
          </a:solidFill>
          <a:ln>
            <a:solidFill>
              <a:srgbClr val="1E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192024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41D3E0"/>
                </a:solidFill>
                <a:latin typeface="Aptos"/>
              </a:rPr>
              <a:t>Coordinator</a:t>
            </a:r>
          </a:p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41D3E0"/>
                </a:solidFill>
                <a:latin typeface="Aptos"/>
              </a:rPr>
              <a:t>A2A 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240280"/>
            <a:ext cx="2514600" cy="1463040"/>
          </a:xfrm>
          <a:prstGeom prst="roundRect">
            <a:avLst>
              <a:gd name="adj" fmla="val 8000"/>
            </a:avLst>
          </a:prstGeom>
          <a:solidFill>
            <a:srgbClr val="1E334E"/>
          </a:solidFill>
          <a:ln>
            <a:solidFill>
              <a:srgbClr val="1E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542032"/>
            <a:ext cx="214884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5D9BFF"/>
                </a:solidFill>
                <a:latin typeface="Aptos"/>
              </a:rPr>
              <a:t>Order Specialist</a:t>
            </a:r>
          </a:p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5D9BFF"/>
                </a:solidFill>
                <a:latin typeface="Aptos"/>
              </a:rPr>
              <a:t>A2A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240280"/>
            <a:ext cx="2267712" cy="1463040"/>
          </a:xfrm>
          <a:prstGeom prst="roundRect">
            <a:avLst>
              <a:gd name="adj" fmla="val 8000"/>
            </a:avLst>
          </a:prstGeom>
          <a:solidFill>
            <a:srgbClr val="1E334E"/>
          </a:solidFill>
          <a:ln>
            <a:solidFill>
              <a:srgbClr val="1E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08592" y="2542032"/>
            <a:ext cx="1938528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5BDAA3"/>
                </a:solidFill>
                <a:latin typeface="Aptos"/>
              </a:rPr>
              <a:t>Inventory DB</a:t>
            </a:r>
          </a:p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5BDAA3"/>
                </a:solidFill>
                <a:latin typeface="Aptos"/>
              </a:rPr>
              <a:t>MCP server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17520" y="2971800"/>
            <a:ext cx="1554480" cy="0"/>
          </a:xfrm>
          <a:prstGeom prst="line">
            <a:avLst/>
          </a:prstGeom>
          <a:ln w="31750">
            <a:solidFill>
              <a:srgbClr val="41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081528" y="2542032"/>
            <a:ext cx="13716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41D3E0"/>
                </a:solidFill>
                <a:latin typeface="Aptos"/>
              </a:rPr>
              <a:t>A2A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68896" y="2971800"/>
            <a:ext cx="1929384" cy="0"/>
          </a:xfrm>
          <a:prstGeom prst="line">
            <a:avLst/>
          </a:prstGeom>
          <a:ln w="31750">
            <a:solidFill>
              <a:srgbClr val="5BDA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42631" y="2542032"/>
            <a:ext cx="1627632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5BDAA3"/>
                </a:solidFill>
                <a:latin typeface="Aptos"/>
              </a:rPr>
              <a:t>MCP tools /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407408"/>
            <a:ext cx="1024128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4F8FC"/>
                </a:solidFill>
                <a:latin typeface="Aptos"/>
              </a:rPr>
              <a:t>Coordinator delegates a task to the order agent over A2A. The specialist may use an MCP client to query inventory.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30368"/>
            <a:ext cx="1024128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FC25C"/>
                </a:solidFill>
                <a:latin typeface="Aptos"/>
              </a:rPr>
              <a:t>The POC’s discover_agents/call_agent functions are ADK tools; they are not MCP tools or an MCP server.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36576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41D3E0"/>
                </a:solidFill>
                <a:latin typeface="Aptos"/>
              </a:rPr>
              <a:t>WRAP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109960" cy="5029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F4F8FC"/>
                </a:solidFill>
                <a:latin typeface="Aptos"/>
              </a:rPr>
              <a:t>Takeaway: different boundaries, one cooperating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15568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DBED0"/>
                </a:solidFill>
                <a:latin typeface="Aptos"/>
              </a:rPr>
              <a:t>Use the protocol that matches the collaboration boundary.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3648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0352" y="6556248"/>
            <a:ext cx="6583680" cy="201168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1" i="0">
                <a:solidFill>
                  <a:srgbClr val="ADBED0"/>
                </a:solidFill>
                <a:latin typeface="Aptos"/>
              </a:rPr>
              <a:t>A2A PROTOCOL • POC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48640" cy="219456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ADBED0"/>
                </a:solidFill>
                <a:latin typeface="Apto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28800"/>
            <a:ext cx="3456432" cy="205740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828800"/>
            <a:ext cx="73152" cy="2057400"/>
          </a:xfrm>
          <a:prstGeom prst="rect">
            <a:avLst/>
          </a:prstGeom>
          <a:solidFill>
            <a:srgbClr val="41D3E0"/>
          </a:solidFill>
          <a:ln>
            <a:solidFill>
              <a:srgbClr val="41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307238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41D3E0"/>
                </a:solidFill>
                <a:latin typeface="Aptos"/>
              </a:rPr>
              <a:t>A2A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3072384" cy="1344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Agent delegates to another agent; remote agent remains an autonomous specialist.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56432" cy="205740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73152" cy="2057400"/>
          </a:xfrm>
          <a:prstGeom prst="rect">
            <a:avLst/>
          </a:prstGeom>
          <a:solidFill>
            <a:srgbClr val="5BDAA3"/>
          </a:solidFill>
          <a:ln>
            <a:solidFill>
              <a:srgbClr val="5BDA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07238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5BDAA3"/>
                </a:solidFill>
                <a:latin typeface="Aptos"/>
              </a:rPr>
              <a:t>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32304"/>
            <a:ext cx="3072384" cy="1344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AI application / agent connects to tools, resources, and prompts exposed by a server.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828800"/>
            <a:ext cx="3456432" cy="2057400"/>
          </a:xfrm>
          <a:prstGeom prst="roundRect">
            <a:avLst>
              <a:gd name="adj" fmla="val 8000"/>
            </a:avLst>
          </a:prstGeom>
          <a:solidFill>
            <a:srgbClr val="182941"/>
          </a:solidFill>
          <a:ln>
            <a:solidFill>
              <a:srgbClr val="18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828800"/>
            <a:ext cx="73152" cy="2057400"/>
          </a:xfrm>
          <a:prstGeom prst="rect">
            <a:avLst/>
          </a:prstGeom>
          <a:solidFill>
            <a:srgbClr val="FFC25C"/>
          </a:solidFill>
          <a:ln>
            <a:solidFill>
              <a:srgbClr val="FFC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65960"/>
            <a:ext cx="3072384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FFC25C"/>
                </a:solidFill>
                <a:latin typeface="Aptos"/>
              </a:rPr>
              <a:t>THIS POC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32304"/>
            <a:ext cx="3072384" cy="1344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4F8FC"/>
                </a:solidFill>
                <a:latin typeface="Aptos"/>
              </a:rPr>
              <a:t>Four A2A agents across two processes; registry-backed discovery; no MCP server yet.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224528"/>
            <a:ext cx="1042416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41D3E0"/>
                </a:solidFill>
                <a:latin typeface="Aptos"/>
              </a:rPr>
              <a:t>Official 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90288"/>
            <a:ext cx="1051560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ADBED0"/>
                </a:solidFill>
                <a:latin typeface="Aptos"/>
              </a:rPr>
              <a:t>A2A specification (latest; version 1.0.0): https://a2a-protocol.org/latest/specification/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01183"/>
            <a:ext cx="1051560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ADBED0"/>
                </a:solidFill>
                <a:latin typeface="Aptos"/>
              </a:rPr>
              <a:t>A2A task lifecycle: https://a2a-protocol.org/latest/topics/life-of-a-task/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212079"/>
            <a:ext cx="1051560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ADBED0"/>
                </a:solidFill>
                <a:latin typeface="Aptos"/>
              </a:rPr>
              <a:t>A2A Agent Card discovery: https://a2a-protocol.org/latest/topics/agent-discovery/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522975"/>
            <a:ext cx="10515600" cy="274320"/>
          </a:xfrm>
          <a:prstGeom prst="rect">
            <a:avLst/>
          </a:prstGeom>
          <a:noFill/>
        </p:spPr>
        <p:txBody>
          <a:bodyPr wrap="squar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ADBED0"/>
                </a:solidFill>
                <a:latin typeface="Aptos"/>
              </a:rPr>
              <a:t>MCP architecture: https://modelcontextprotocol.io/docs/learn/architecture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A2A Protocol and POC Detailed Demo</dc:title>
  <dc:subject>A2A messages, tasks, identifiers, well-known Agent Cards, MCP complementarity, and POC test questions</dc:subject>
  <dc:creator>A2A POC Demo</dc:creator>
  <cp:keywords>A2A, MCP, Agent Card, message, task, contextId, taskId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